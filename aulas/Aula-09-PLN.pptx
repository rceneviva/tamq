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4" d="100"/>
          <a:sy n="94" d="100"/>
        </p:scale>
        <p:origin x="-128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3474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Processamento</a:t>
            </a:r>
            <a:r>
              <a:rPr dirty="0"/>
              <a:t> de </a:t>
            </a:r>
            <a:r>
              <a:rPr dirty="0" err="1"/>
              <a:t>Linguagem</a:t>
            </a:r>
            <a:r>
              <a:rPr dirty="0"/>
              <a:t> Natural (PLN)</a:t>
            </a:r>
          </a:p>
          <a:p>
            <a:r>
              <a:rPr dirty="0"/>
              <a:t>e </a:t>
            </a:r>
            <a:r>
              <a:rPr dirty="0" err="1"/>
              <a:t>Aplicações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 smtClean="0"/>
              <a:t>Públicas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b="1" dirty="0" smtClean="0"/>
              <a:t>Prof. Ricardo Ceneviva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PPG-PP/UFABC</a:t>
            </a:r>
            <a:endParaRPr dirty="0"/>
          </a:p>
          <a:p>
            <a:r>
              <a:rPr dirty="0" err="1"/>
              <a:t>Texto</a:t>
            </a:r>
            <a:r>
              <a:rPr dirty="0"/>
              <a:t> </a:t>
            </a:r>
            <a:r>
              <a:rPr dirty="0" err="1" smtClean="0"/>
              <a:t>como</a:t>
            </a:r>
            <a:r>
              <a:rPr lang="pt-BR" dirty="0" smtClean="0"/>
              <a:t> base de</a:t>
            </a:r>
            <a:r>
              <a:rPr dirty="0" smtClean="0"/>
              <a:t> dado</a:t>
            </a:r>
            <a:r>
              <a:rPr lang="pt-BR" dirty="0" smtClean="0"/>
              <a:t>s</a:t>
            </a:r>
            <a:r>
              <a:rPr dirty="0" smtClean="0"/>
              <a:t>: </a:t>
            </a:r>
            <a:r>
              <a:rPr dirty="0" err="1"/>
              <a:t>descoberta</a:t>
            </a:r>
            <a:r>
              <a:rPr dirty="0"/>
              <a:t>, </a:t>
            </a:r>
            <a:r>
              <a:rPr dirty="0" err="1"/>
              <a:t>mensuração</a:t>
            </a:r>
            <a:r>
              <a:rPr dirty="0"/>
              <a:t> e </a:t>
            </a:r>
            <a:r>
              <a:rPr dirty="0" err="1"/>
              <a:t>inferência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Compreender as três tarefas: descoberta, mensuração e inferência.</a:t>
            </a:r>
          </a:p>
          <a:p>
            <a:r>
              <a:t>Reconhecer escolhas-chave: seleção do corpus e representação textual.</a:t>
            </a:r>
          </a:p>
          <a:p>
            <a:r>
              <a:t>Conhecer modelos básicos: BoW, TF-IDF, tópicos, embeddings e classificadores.</a:t>
            </a:r>
          </a:p>
          <a:p>
            <a:r>
              <a:t>Relacionar medidas textuais a perguntas de políticas públicas.</a:t>
            </a:r>
          </a:p>
          <a:p>
            <a:r>
              <a:t>Antecipar riscos de validade e cuidados éticos/LGPD.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</a:t>
            </a:r>
            <a:r>
              <a:rPr dirty="0" smtClean="0"/>
              <a:t>or </a:t>
            </a:r>
            <a:r>
              <a:rPr dirty="0"/>
              <a:t>que </a:t>
            </a:r>
            <a:r>
              <a:rPr dirty="0" err="1" smtClean="0"/>
              <a:t>texto</a:t>
            </a:r>
            <a:r>
              <a:rPr dirty="0" smtClean="0"/>
              <a:t> </a:t>
            </a:r>
            <a:r>
              <a:rPr dirty="0" err="1" smtClean="0"/>
              <a:t>como</a:t>
            </a:r>
            <a:r>
              <a:rPr lang="pt-BR" dirty="0" smtClean="0"/>
              <a:t> base de</a:t>
            </a:r>
            <a:r>
              <a:rPr dirty="0" smtClean="0"/>
              <a:t> dado</a:t>
            </a:r>
            <a:r>
              <a:rPr lang="pt-BR" dirty="0" smtClean="0"/>
              <a:t>s</a:t>
            </a:r>
            <a:r>
              <a:rPr dirty="0" smtClean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Fontes</a:t>
            </a:r>
            <a:r>
              <a:rPr dirty="0"/>
              <a:t> </a:t>
            </a:r>
            <a:r>
              <a:rPr dirty="0" err="1"/>
              <a:t>abundantes</a:t>
            </a:r>
            <a:r>
              <a:rPr dirty="0"/>
              <a:t> e </a:t>
            </a:r>
            <a:r>
              <a:rPr dirty="0" err="1"/>
              <a:t>estratégicas</a:t>
            </a:r>
            <a:r>
              <a:rPr dirty="0"/>
              <a:t>:</a:t>
            </a:r>
          </a:p>
          <a:p>
            <a:pPr lvl="1"/>
            <a:r>
              <a:rPr dirty="0" err="1"/>
              <a:t>Discursos</a:t>
            </a:r>
            <a:r>
              <a:rPr dirty="0"/>
              <a:t> </a:t>
            </a:r>
            <a:r>
              <a:rPr dirty="0" err="1"/>
              <a:t>legislativos</a:t>
            </a:r>
            <a:r>
              <a:rPr dirty="0"/>
              <a:t>, </a:t>
            </a:r>
            <a:r>
              <a:rPr dirty="0" err="1"/>
              <a:t>ementas</a:t>
            </a:r>
            <a:r>
              <a:rPr dirty="0"/>
              <a:t>, </a:t>
            </a:r>
            <a:r>
              <a:rPr dirty="0" err="1"/>
              <a:t>regulamentos</a:t>
            </a:r>
            <a:r>
              <a:rPr dirty="0"/>
              <a:t>, </a:t>
            </a:r>
            <a:r>
              <a:rPr dirty="0" err="1"/>
              <a:t>pareceres</a:t>
            </a:r>
            <a:r>
              <a:rPr dirty="0"/>
              <a:t>, </a:t>
            </a:r>
            <a:r>
              <a:rPr dirty="0" err="1"/>
              <a:t>auditorias</a:t>
            </a:r>
            <a:r>
              <a:rPr dirty="0"/>
              <a:t>.</a:t>
            </a:r>
          </a:p>
          <a:p>
            <a:pPr lvl="1"/>
            <a:r>
              <a:rPr dirty="0" err="1"/>
              <a:t>Diários</a:t>
            </a:r>
            <a:r>
              <a:rPr dirty="0"/>
              <a:t> </a:t>
            </a:r>
            <a:r>
              <a:rPr dirty="0" err="1"/>
              <a:t>oficiais</a:t>
            </a:r>
            <a:r>
              <a:rPr dirty="0"/>
              <a:t>, </a:t>
            </a:r>
            <a:r>
              <a:rPr dirty="0" err="1"/>
              <a:t>mídias</a:t>
            </a:r>
            <a:r>
              <a:rPr dirty="0"/>
              <a:t>/</a:t>
            </a:r>
            <a:r>
              <a:rPr dirty="0" err="1"/>
              <a:t>redes</a:t>
            </a:r>
            <a:r>
              <a:rPr dirty="0"/>
              <a:t>,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administrativos</a:t>
            </a:r>
            <a:r>
              <a:rPr dirty="0"/>
              <a:t> (</a:t>
            </a:r>
            <a:r>
              <a:rPr dirty="0" err="1"/>
              <a:t>campos</a:t>
            </a:r>
            <a:r>
              <a:rPr dirty="0"/>
              <a:t> livres).</a:t>
            </a:r>
          </a:p>
          <a:p>
            <a:r>
              <a:rPr dirty="0"/>
              <a:t>Valor </a:t>
            </a:r>
            <a:r>
              <a:rPr dirty="0" err="1"/>
              <a:t>analítico</a:t>
            </a:r>
            <a:r>
              <a:rPr dirty="0"/>
              <a:t>:</a:t>
            </a:r>
          </a:p>
          <a:p>
            <a:pPr lvl="1"/>
            <a:r>
              <a:rPr dirty="0" err="1"/>
              <a:t>Medir</a:t>
            </a:r>
            <a:r>
              <a:rPr dirty="0"/>
              <a:t> agendas, </a:t>
            </a:r>
            <a:r>
              <a:rPr dirty="0" err="1"/>
              <a:t>enquadramentos</a:t>
            </a:r>
            <a:r>
              <a:rPr dirty="0"/>
              <a:t>, </a:t>
            </a:r>
            <a:r>
              <a:rPr dirty="0" err="1"/>
              <a:t>crédito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políticas</a:t>
            </a:r>
            <a:r>
              <a:rPr dirty="0"/>
              <a:t> e </a:t>
            </a:r>
            <a:r>
              <a:rPr dirty="0" err="1"/>
              <a:t>prioridades</a:t>
            </a:r>
            <a:r>
              <a:rPr dirty="0"/>
              <a:t>.</a:t>
            </a:r>
          </a:p>
          <a:p>
            <a:pPr lvl="1"/>
            <a:r>
              <a:rPr dirty="0" err="1"/>
              <a:t>Apoiar</a:t>
            </a:r>
            <a:r>
              <a:rPr dirty="0"/>
              <a:t> </a:t>
            </a:r>
            <a:r>
              <a:rPr dirty="0" err="1"/>
              <a:t>avaliação</a:t>
            </a:r>
            <a:r>
              <a:rPr dirty="0"/>
              <a:t> e </a:t>
            </a:r>
            <a:r>
              <a:rPr dirty="0" err="1"/>
              <a:t>desenho</a:t>
            </a:r>
            <a:r>
              <a:rPr dirty="0"/>
              <a:t> de </a:t>
            </a:r>
            <a:r>
              <a:rPr dirty="0" err="1"/>
              <a:t>políticas</a:t>
            </a:r>
            <a:r>
              <a:rPr dirty="0"/>
              <a:t> com </a:t>
            </a:r>
            <a:r>
              <a:rPr dirty="0" err="1"/>
              <a:t>evidência</a:t>
            </a:r>
            <a:r>
              <a:rPr dirty="0"/>
              <a:t> textual </a:t>
            </a:r>
            <a:r>
              <a:rPr dirty="0" err="1"/>
              <a:t>mensurável</a:t>
            </a:r>
            <a:r>
              <a:rPr dirty="0"/>
              <a:t>.</a:t>
            </a:r>
          </a:p>
          <a:p>
            <a:r>
              <a:rPr b="1" dirty="0" err="1"/>
              <a:t>Mensagem</a:t>
            </a:r>
            <a:r>
              <a:rPr b="1" dirty="0"/>
              <a:t>: </a:t>
            </a:r>
            <a:r>
              <a:rPr b="1" dirty="0" err="1"/>
              <a:t>métodos</a:t>
            </a:r>
            <a:r>
              <a:rPr b="1" dirty="0"/>
              <a:t> </a:t>
            </a:r>
            <a:r>
              <a:rPr b="1" dirty="0" err="1"/>
              <a:t>ajudam</a:t>
            </a:r>
            <a:r>
              <a:rPr b="1" dirty="0"/>
              <a:t>, mas </a:t>
            </a:r>
            <a:r>
              <a:rPr b="1" dirty="0" err="1"/>
              <a:t>não</a:t>
            </a:r>
            <a:r>
              <a:rPr b="1" dirty="0"/>
              <a:t> </a:t>
            </a:r>
            <a:r>
              <a:rPr b="1" dirty="0" err="1"/>
              <a:t>substituem</a:t>
            </a:r>
            <a:r>
              <a:rPr b="1" dirty="0"/>
              <a:t> </a:t>
            </a:r>
            <a:r>
              <a:rPr b="1" dirty="0" err="1"/>
              <a:t>teoria</a:t>
            </a:r>
            <a:r>
              <a:rPr b="1" dirty="0"/>
              <a:t> e </a:t>
            </a:r>
            <a:r>
              <a:rPr b="1" dirty="0" err="1"/>
              <a:t>julgamento</a:t>
            </a:r>
            <a:r>
              <a:rPr b="1" dirty="0"/>
              <a:t> </a:t>
            </a:r>
            <a:r>
              <a:rPr b="1" dirty="0" err="1"/>
              <a:t>humano</a:t>
            </a:r>
            <a:r>
              <a:rPr b="1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lang="pt-BR" dirty="0" smtClean="0"/>
              <a:t> base de </a:t>
            </a:r>
            <a:r>
              <a:rPr dirty="0" smtClean="0"/>
              <a:t>dado</a:t>
            </a:r>
            <a:r>
              <a:rPr lang="pt-BR" dirty="0" smtClean="0"/>
              <a:t>s</a:t>
            </a:r>
            <a:r>
              <a:rPr dirty="0" smtClean="0"/>
              <a:t>: </a:t>
            </a:r>
            <a:r>
              <a:rPr dirty="0" err="1"/>
              <a:t>visão</a:t>
            </a:r>
            <a:r>
              <a:rPr dirty="0"/>
              <a:t> </a:t>
            </a:r>
            <a:r>
              <a:rPr dirty="0" err="1"/>
              <a:t>geral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articuladas</a:t>
            </a:r>
            <a:r>
              <a:rPr dirty="0"/>
              <a:t>:</a:t>
            </a:r>
          </a:p>
          <a:p>
            <a:r>
              <a:rPr dirty="0" err="1"/>
              <a:t>Descoberta</a:t>
            </a:r>
            <a:endParaRPr dirty="0"/>
          </a:p>
          <a:p>
            <a:pPr lvl="1"/>
            <a:r>
              <a:rPr dirty="0" err="1"/>
              <a:t>Explorar</a:t>
            </a:r>
            <a:r>
              <a:rPr dirty="0"/>
              <a:t> </a:t>
            </a:r>
            <a:r>
              <a:rPr dirty="0" err="1"/>
              <a:t>regularidades</a:t>
            </a:r>
            <a:r>
              <a:rPr dirty="0"/>
              <a:t>/</a:t>
            </a:r>
            <a:r>
              <a:rPr dirty="0" err="1"/>
              <a:t>temas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rótulos</a:t>
            </a:r>
            <a:r>
              <a:rPr dirty="0"/>
              <a:t> </a:t>
            </a:r>
            <a:r>
              <a:rPr dirty="0" err="1"/>
              <a:t>prévios</a:t>
            </a:r>
            <a:r>
              <a:rPr dirty="0"/>
              <a:t>.</a:t>
            </a:r>
          </a:p>
          <a:p>
            <a:r>
              <a:rPr dirty="0" err="1"/>
              <a:t>Mensuração</a:t>
            </a:r>
            <a:endParaRPr dirty="0"/>
          </a:p>
          <a:p>
            <a:pPr lvl="1"/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confiáveis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do </a:t>
            </a:r>
            <a:r>
              <a:rPr dirty="0" err="1"/>
              <a:t>texto</a:t>
            </a:r>
            <a:r>
              <a:rPr dirty="0"/>
              <a:t>.</a:t>
            </a:r>
          </a:p>
          <a:p>
            <a:r>
              <a:rPr dirty="0" err="1"/>
              <a:t>Inferência</a:t>
            </a:r>
            <a:endParaRPr dirty="0"/>
          </a:p>
          <a:p>
            <a:pPr lvl="1"/>
            <a:r>
              <a:rPr dirty="0"/>
              <a:t>Responder a </a:t>
            </a:r>
            <a:r>
              <a:rPr dirty="0" err="1"/>
              <a:t>perguntas</a:t>
            </a:r>
            <a:r>
              <a:rPr dirty="0"/>
              <a:t> </a:t>
            </a:r>
            <a:r>
              <a:rPr dirty="0" err="1"/>
              <a:t>preditivas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causais</a:t>
            </a:r>
            <a:r>
              <a:rPr dirty="0"/>
              <a:t>.</a:t>
            </a:r>
          </a:p>
          <a:p>
            <a:r>
              <a:rPr b="1" dirty="0"/>
              <a:t>O </a:t>
            </a:r>
            <a:r>
              <a:rPr b="1" dirty="0" err="1"/>
              <a:t>método</a:t>
            </a:r>
            <a:r>
              <a:rPr b="1" dirty="0"/>
              <a:t> </a:t>
            </a:r>
            <a:r>
              <a:rPr b="1" dirty="0" err="1"/>
              <a:t>adequado</a:t>
            </a:r>
            <a:r>
              <a:rPr b="1" dirty="0"/>
              <a:t> </a:t>
            </a:r>
            <a:r>
              <a:rPr b="1" dirty="0" err="1"/>
              <a:t>depende</a:t>
            </a:r>
            <a:r>
              <a:rPr b="1" dirty="0"/>
              <a:t> da </a:t>
            </a:r>
            <a:r>
              <a:rPr b="1" dirty="0" err="1"/>
              <a:t>tarefa</a:t>
            </a:r>
            <a:r>
              <a:rPr b="1" dirty="0"/>
              <a:t> e da </a:t>
            </a:r>
            <a:r>
              <a:rPr b="1" dirty="0" err="1"/>
              <a:t>pergunta</a:t>
            </a:r>
            <a:r>
              <a:rPr b="1" dirty="0"/>
              <a:t> de </a:t>
            </a:r>
            <a:r>
              <a:rPr b="1" dirty="0" err="1"/>
              <a:t>pesquisa</a:t>
            </a:r>
            <a:r>
              <a:rPr b="1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Seis princípios orientadores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dirty="0" err="1"/>
              <a:t>Ancorar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teoria</a:t>
            </a:r>
            <a:r>
              <a:rPr dirty="0"/>
              <a:t> e </a:t>
            </a:r>
            <a:r>
              <a:rPr dirty="0" err="1"/>
              <a:t>conhecimento</a:t>
            </a:r>
            <a:r>
              <a:rPr dirty="0"/>
              <a:t> </a:t>
            </a:r>
            <a:r>
              <a:rPr dirty="0" err="1"/>
              <a:t>substantivo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Métodos</a:t>
            </a:r>
            <a:r>
              <a:rPr dirty="0"/>
              <a:t> </a:t>
            </a:r>
            <a:r>
              <a:rPr dirty="0" err="1"/>
              <a:t>ampliam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substituem</a:t>
            </a:r>
            <a:r>
              <a:rPr dirty="0"/>
              <a:t>, a </a:t>
            </a:r>
            <a:r>
              <a:rPr dirty="0" err="1"/>
              <a:t>leitura</a:t>
            </a:r>
            <a:r>
              <a:rPr dirty="0"/>
              <a:t> </a:t>
            </a:r>
            <a:r>
              <a:rPr dirty="0" err="1"/>
              <a:t>humana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Iterar</a:t>
            </a:r>
            <a:r>
              <a:rPr dirty="0"/>
              <a:t> e </a:t>
            </a:r>
            <a:r>
              <a:rPr dirty="0" err="1"/>
              <a:t>acumular</a:t>
            </a:r>
            <a:r>
              <a:rPr dirty="0"/>
              <a:t>: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aproximações</a:t>
            </a:r>
            <a:r>
              <a:rPr dirty="0"/>
              <a:t> </a:t>
            </a:r>
            <a:r>
              <a:rPr dirty="0" err="1"/>
              <a:t>úteis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fins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extraem</a:t>
            </a:r>
            <a:r>
              <a:rPr dirty="0"/>
              <a:t> </a:t>
            </a:r>
            <a:r>
              <a:rPr dirty="0" err="1"/>
              <a:t>generalizações</a:t>
            </a:r>
            <a:r>
              <a:rPr dirty="0"/>
              <a:t>; evite ‘</a:t>
            </a:r>
            <a:r>
              <a:rPr dirty="0" err="1"/>
              <a:t>verdades</a:t>
            </a:r>
            <a:r>
              <a:rPr dirty="0"/>
              <a:t>’ </a:t>
            </a:r>
            <a:r>
              <a:rPr dirty="0" err="1"/>
              <a:t>rígidas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Escolhas</a:t>
            </a:r>
            <a:r>
              <a:rPr dirty="0"/>
              <a:t> </a:t>
            </a:r>
            <a:r>
              <a:rPr dirty="0" err="1"/>
              <a:t>dependem</a:t>
            </a:r>
            <a:r>
              <a:rPr dirty="0"/>
              <a:t> da </a:t>
            </a:r>
            <a:r>
              <a:rPr dirty="0" err="1"/>
              <a:t>tarefa</a:t>
            </a:r>
            <a:r>
              <a:rPr dirty="0"/>
              <a:t> (</a:t>
            </a:r>
            <a:r>
              <a:rPr dirty="0" err="1"/>
              <a:t>descoberta</a:t>
            </a:r>
            <a:r>
              <a:rPr dirty="0"/>
              <a:t>, </a:t>
            </a:r>
            <a:r>
              <a:rPr dirty="0" err="1"/>
              <a:t>mensuração</a:t>
            </a:r>
            <a:r>
              <a:rPr dirty="0"/>
              <a:t>, </a:t>
            </a:r>
            <a:r>
              <a:rPr dirty="0" err="1"/>
              <a:t>inferência</a:t>
            </a:r>
            <a:r>
              <a:rPr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Validação</a:t>
            </a:r>
            <a:r>
              <a:rPr dirty="0"/>
              <a:t> é central e </a:t>
            </a:r>
            <a:r>
              <a:rPr dirty="0" err="1"/>
              <a:t>específica</a:t>
            </a:r>
            <a:r>
              <a:rPr dirty="0"/>
              <a:t> à </a:t>
            </a:r>
            <a:r>
              <a:rPr dirty="0" err="1"/>
              <a:t>tarefa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Seleção do corpus: o que entra no seu estudo?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Defina população e quantidade de interesse:</a:t>
            </a:r>
          </a:p>
          <a:p>
            <a:pPr lvl="1"/>
            <a:r>
              <a:t>Quem fala? Onde? Quando? Sobre o quê?</a:t>
            </a:r>
          </a:p>
          <a:p>
            <a:r>
              <a:t>Quatro vieses na coleta:</a:t>
            </a:r>
          </a:p>
          <a:p>
            <a:pPr lvl="1"/>
            <a:r>
              <a:t>Recursos (custos), incentivos (o que é publicado), meio (formato), recuperação (busca/raspagem).</a:t>
            </a:r>
          </a:p>
          <a:p>
            <a:r>
              <a:t>Documente decisões de inclusão/exclusão e implicações para validade externa.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Representação: panorama de opções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Bag-of-Words (BoW) e matriz documento-termo (interpretável, simples).</a:t>
            </a:r>
          </a:p>
          <a:p>
            <a:r>
              <a:t>TF-IDF para salientar termos distintivos por documento.</a:t>
            </a:r>
          </a:p>
          <a:p>
            <a:r>
              <a:t>Embeddings (palavra/sentença) para semântica e similaridade.</a:t>
            </a:r>
          </a:p>
          <a:p>
            <a:r>
              <a:t>Sequências e rótulos linguísticos (POS, NER, dependências) para IE/extração.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Bag-of-Words na prática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Pré-processamento consciente:</a:t>
            </a:r>
          </a:p>
          <a:p>
            <a:pPr lvl="1"/>
            <a:r>
              <a:t>Normalização (lowercase), remoção de pontuação/números, stopwords.</a:t>
            </a:r>
          </a:p>
          <a:p>
            <a:pPr lvl="1"/>
            <a:r>
              <a:t>Stemming/lematização: ganhos vs. perda de nuances.</a:t>
            </a:r>
          </a:p>
          <a:p>
            <a:r>
              <a:t>Construção da DTM/DFM:</a:t>
            </a:r>
          </a:p>
          <a:p>
            <a:pPr lvl="1"/>
            <a:r>
              <a:t>Filtros por frequência mínima/máxima; n-gramas para expressões frequentes.</a:t>
            </a:r>
          </a:p>
          <a:p>
            <a:r>
              <a:t>Cuidado: pequenos ajustes mudam resultados; registre suas escolhas.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Modelo multinomial por trás do BoW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Intuição: documentos geram contagens de termos sob um processo multinomial.</a:t>
            </a:r>
          </a:p>
          <a:p>
            <a:r>
              <a:t>Regularização (Dirichlet/Laplace) estabiliza estimativas com baixa frequência.</a:t>
            </a:r>
          </a:p>
          <a:p>
            <a:r>
              <a:t>Base para vários métodos (tópicos, Naive Bayes, Wordscores).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Espaço vetorial e TF-IDF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Representar documentos como vetores → medir similaridade/distância.</a:t>
            </a:r>
          </a:p>
          <a:p>
            <a:r>
              <a:t>TF-IDF reduz peso de termos onipresentes e destaca termos informativos.</a:t>
            </a:r>
          </a:p>
          <a:p>
            <a:r>
              <a:t>Útil para busca, agrupamento, classificação linear e visualizações.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Embeddings de palavras e sentenças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Ideia: palavras em contextos parecidos têm vetores próximos.</a:t>
            </a:r>
          </a:p>
          <a:p>
            <a:r>
              <a:t>Modelos distribuídos e contextualizados (ex.: BERT), pré-treinados.</a:t>
            </a:r>
          </a:p>
          <a:p>
            <a:r>
              <a:t>Agregação ao nível do documento (médias, CLS); valide e audite vieses.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Representações por sequência e 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Anotar sequência com POS/NER/dependências aumenta granularidade.</a:t>
            </a:r>
          </a:p>
          <a:p>
            <a:r>
              <a:t>Casos de uso: atores, órgãos, programas e valores orçamentários em textos.</a:t>
            </a:r>
          </a:p>
          <a:p>
            <a:r>
              <a:t>Integração com regras ou ML para extração de informação (IE).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Descoberta: princípios gerais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Nem sempre há ‘ground truth’; foque no conceito e no uso substantivo.</a:t>
            </a:r>
          </a:p>
          <a:p>
            <a:r>
              <a:t>Separe dados para avaliar descobertas e evitar overfitting interpretativo.</a:t>
            </a:r>
          </a:p>
          <a:p>
            <a:r>
              <a:t>Prefira abordagens interativas e documentação da rotulagem humana.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de documentos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e métodos hierárquicos organizam documentos por similaridade.</a:t>
            </a:r>
          </a:p>
          <a:p>
            <a:r>
              <a:t>K é decisão substantiva; compare soluções e justifique.</a:t>
            </a:r>
          </a:p>
          <a:p>
            <a:r>
              <a:t>Interpretação humana é indispensável; explicite regras de rotulagem.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de tópicos: LDA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Intuição: documentos são misturas de temas; temas, distribuições de termos.</a:t>
            </a:r>
          </a:p>
          <a:p>
            <a:r>
              <a:t>Decisões: número de tópicos (K), priors, filtros; rotulagem transparente.</a:t>
            </a:r>
          </a:p>
          <a:p>
            <a:r>
              <a:t>Avaliação: coerência, estabilidade e utilidade para a pergunta.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Topic Model (STM)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Inclui covariáveis documentais: prevalência (quem/quando fala sobre quê).</a:t>
            </a:r>
          </a:p>
          <a:p>
            <a:r>
              <a:t>Modela conteúdo por grupo (ex.: partido) e variação temporal.</a:t>
            </a:r>
          </a:p>
          <a:p>
            <a:r>
              <a:t>Interprete efeitos estimados; não confunda com causalidade.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Mensuração: princípios práticos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Defina o construto e a hipótese de uso antes do modelo.</a:t>
            </a:r>
          </a:p>
          <a:p>
            <a:r>
              <a:t>Garanta fonte pública e processo reprodutível (dados + código).</a:t>
            </a:r>
          </a:p>
          <a:p>
            <a:r>
              <a:t>Planeje validação e reporte limitações explicitamente.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Dicionários e Wordscores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Dicionários: simples e transparentes; sensíveis a domínio e ambiguidade.</a:t>
            </a:r>
          </a:p>
          <a:p>
            <a:r>
              <a:t>Wordscores: posiciona documentos a partir de textos ancorados.</a:t>
            </a:r>
          </a:p>
          <a:p>
            <a:r>
              <a:t>Valide com amostras rotuladas e medidas externas (construct).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Classificação supervisionada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Pipeline: rotular (amostra), treinar (NB/linear/árvores), avaliar e aplicar.</a:t>
            </a:r>
          </a:p>
          <a:p>
            <a:r>
              <a:t>Conjunto de treino deve cobrir variação relevante do corpus.</a:t>
            </a:r>
          </a:p>
          <a:p>
            <a:r>
              <a:t>Relate métricas (precisão, recall, F1) e análise de erros.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Validação de medidas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 ‘gold’: holdout, cross-validation, acurácia e erros sistemáticos.</a:t>
            </a:r>
          </a:p>
          <a:p>
            <a:r>
              <a:t>Sem ‘gold’: rótulos substitutos, checagens por não-especialistas, convergência externa.</a:t>
            </a:r>
          </a:p>
          <a:p>
            <a:r>
              <a:t>Teste robustez a pré-processamento e hiperparâmetros.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 descoberta para medida (repurposing)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Workflow: 1) explorar; 2) definir medida; 3) congelar; 4) validar em dados novos.</a:t>
            </a:r>
          </a:p>
          <a:p>
            <a:r>
              <a:t>Riscos: instabilidade, opacidade, superinterpretação.</a:t>
            </a:r>
          </a:p>
          <a:p>
            <a:r>
              <a:t>Mitigue com documentação, sementes fixas e avaliação independente.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Inferência: princípios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Distinguir previsão e inferência causal; validações diferentes.</a:t>
            </a:r>
          </a:p>
          <a:p>
            <a:r>
              <a:t>Texto como feature, tratamento, desfecho ou confundidor.</a:t>
            </a:r>
          </a:p>
          <a:p>
            <a:r>
              <a:t>Causalidade requer desenhos (RCT, DiD, IV, RD) e suposições claras.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Previsão com texto e nowcasting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Casos: previsão de decisões, detecção de risco, monitoramento quase em tempo real.</a:t>
            </a:r>
          </a:p>
          <a:p>
            <a:r>
              <a:t>Perigos: concept drift, mudanças institucionais e incentivos de publicação.</a:t>
            </a:r>
          </a:p>
          <a:p>
            <a:r>
              <a:t>Boas práticas: re-treino, janelas móveis e auditoria fora da amostra.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Causalidade com 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Defina antes a função g(texto) → medida; evite ‘pescaria’ pós-hoc.</a:t>
            </a:r>
          </a:p>
          <a:p>
            <a:r>
              <a:t>Separe treino/teste; considere experimentos sequenciais quando viável.</a:t>
            </a:r>
          </a:p>
          <a:p>
            <a:r>
              <a:t>Explicite ameaças à validade (omissos, mediadores, seleção).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Aplicações em políticas públicas (exemplos)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Agenda legislativa e crédito por políticas em discursos e ementas.</a:t>
            </a:r>
          </a:p>
          <a:p>
            <a:r>
              <a:t>Monitoramento de implementação: relatórios e diários oficiais.</a:t>
            </a:r>
          </a:p>
          <a:p>
            <a:r>
              <a:t>Análise de transparência: linguagem em auditorias e TCs.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Boas práticas, ética e LGPD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Minimização e anonimização: colete apenas o necessário; proteja metadados.</a:t>
            </a:r>
          </a:p>
          <a:p>
            <a:r>
              <a:t>Transparência: descreva fonte, scraping, pré-processamento e versões de modelos.</a:t>
            </a:r>
          </a:p>
          <a:p>
            <a:r>
              <a:t>Governança: versionamento, reprodutibilidade (scripts, seeds), plano de riscos.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1133</Words>
  <Application>Microsoft Office PowerPoint</Application>
  <PresentationFormat>Apresentação na tela (4:3)</PresentationFormat>
  <Paragraphs>124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Office Theme</vt:lpstr>
      <vt:lpstr>Processamento de Linguagem Natural (PLN) e Aplicações em Políticas Públicas  Prof. Ricardo Ceneviva</vt:lpstr>
      <vt:lpstr>Objetivos da aula</vt:lpstr>
      <vt:lpstr>Por que texto como base de dados?</vt:lpstr>
      <vt:lpstr>Texto como  base de dados: visão geral</vt:lpstr>
      <vt:lpstr>Seis princípios orientadores</vt:lpstr>
      <vt:lpstr>Seleção do corpus: o que entra no seu estudo?</vt:lpstr>
      <vt:lpstr>Representação: panorama de opções</vt:lpstr>
      <vt:lpstr>Bag-of-Words na prática</vt:lpstr>
      <vt:lpstr>Modelo multinomial por trás do BoW</vt:lpstr>
      <vt:lpstr>Espaço vetorial e TF-IDF</vt:lpstr>
      <vt:lpstr>Embeddings de palavras e sentenças</vt:lpstr>
      <vt:lpstr>Representações por sequência e IE</vt:lpstr>
      <vt:lpstr>Descoberta: princípios gerais</vt:lpstr>
      <vt:lpstr>Clustering de documentos</vt:lpstr>
      <vt:lpstr>Modelos de tópicos: LDA</vt:lpstr>
      <vt:lpstr>Structural Topic Model (STM)</vt:lpstr>
      <vt:lpstr>Mensuração: princípios práticos</vt:lpstr>
      <vt:lpstr>Dicionários e Wordscores</vt:lpstr>
      <vt:lpstr>Classificação supervisionada</vt:lpstr>
      <vt:lpstr>Validação de medidas</vt:lpstr>
      <vt:lpstr>De descoberta para medida (repurposing)</vt:lpstr>
      <vt:lpstr>Inferência: princípios</vt:lpstr>
      <vt:lpstr>Previsão com texto e nowcasting</vt:lpstr>
      <vt:lpstr>Causalidade com texto</vt:lpstr>
      <vt:lpstr>Aplicações em políticas públicas (exemplos)</vt:lpstr>
      <vt:lpstr>Boas práticas, ética e LGPD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Processamento de Linguagem Natural (PLN) e Aplicações em Políticas Públicas  Prof. Ricardo Ceneviva</dc:title>
  <dc:creator>Ricardo Ceneviva</dc:creator>
  <dc:description>generated using python-pptx</dc:description>
  <cp:lastModifiedBy>Ricardo Ceneviva</cp:lastModifiedBy>
  <cp:revision>4</cp:revision>
  <dcterms:created xsi:type="dcterms:W3CDTF">2013-01-27T09:14:16Z</dcterms:created>
  <dcterms:modified xsi:type="dcterms:W3CDTF">2025-09-02T16:54:23Z</dcterms:modified>
</cp:coreProperties>
</file>