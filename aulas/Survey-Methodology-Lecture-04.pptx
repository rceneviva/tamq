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06163"/>
            <a:ext cx="7772400" cy="1470025"/>
          </a:xfrm>
        </p:spPr>
        <p:txBody>
          <a:bodyPr/>
          <a:lstStyle/>
          <a:p>
            <a:r>
              <a:rPr lang="pt-BR" dirty="0"/>
              <a:t>Tópicos Especiais de Métodos Computacionais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sz="2000" dirty="0"/>
              <a:t>Prof. Ricardo Ceneviva </a:t>
            </a:r>
            <a:endParaRPr lang="pt-BR" sz="2000" dirty="0"/>
          </a:p>
          <a:p>
            <a:r>
              <a:rPr lang="pt-BR" sz="2000" dirty="0"/>
              <a:t>Programa de Pós-graduação em Políticas Públicas</a:t>
            </a:r>
          </a:p>
          <a:p>
            <a:r>
              <a:rPr lang="pt-BR" sz="2000" dirty="0"/>
              <a:t>Centro de Engenharia, Modelagem e Ciências Sociais Aplicadas</a:t>
            </a:r>
          </a:p>
          <a:p>
            <a:r>
              <a:rPr sz="2000"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9568"/>
            <a:ext cx="8229600" cy="1143000"/>
          </a:xfrm>
        </p:spPr>
        <p:txBody>
          <a:bodyPr>
            <a:noAutofit/>
          </a:bodyPr>
          <a:lstStyle/>
          <a:p>
            <a:r>
              <a:rPr lang="pt-BR" sz="3600" dirty="0"/>
              <a:t>Metodologia de </a:t>
            </a:r>
            <a:r>
              <a:rPr lang="pt-BR" sz="3600" dirty="0" err="1"/>
              <a:t>Survey</a:t>
            </a:r>
            <a:r>
              <a:rPr lang="pt-BR" sz="3600" dirty="0"/>
              <a:t>: Fundamentos, Aplicações e Novas Fronteiras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endParaRPr dirty="0"/>
          </a:p>
        </p:txBody>
      </p:sp>
      <p:pic>
        <p:nvPicPr>
          <p:cNvPr id="6" name="Imagem 5" descr="Desenho de personagem de desenho animado">
            <a:extLst>
              <a:ext uri="{FF2B5EF4-FFF2-40B4-BE49-F238E27FC236}">
                <a16:creationId xmlns:a16="http://schemas.microsoft.com/office/drawing/2014/main" id="{E71FC1DF-0D04-54FF-A679-0E76550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1596129"/>
            <a:ext cx="5833751" cy="52720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Poder do </a:t>
            </a:r>
            <a:r>
              <a:rPr lang="pt-BR" dirty="0" err="1"/>
              <a:t>Survey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Definição: Método de investigação social que examina uma amostra da população para inferir sobre o todo.</a:t>
            </a:r>
          </a:p>
          <a:p>
            <a:r>
              <a:rPr lang="pt-BR" dirty="0"/>
              <a:t>Propósito: </a:t>
            </a:r>
          </a:p>
          <a:p>
            <a:pPr lvl="1"/>
            <a:r>
              <a:rPr lang="pt-BR" dirty="0"/>
              <a:t>Descrição: Entender características de uma população (e.g., % de aprovação).</a:t>
            </a:r>
          </a:p>
          <a:p>
            <a:pPr lvl="1"/>
            <a:r>
              <a:rPr lang="pt-BR" dirty="0"/>
              <a:t>Explicação: Analisar associações entre variáveis e desenvolver proposições sobre o comportamento humano.</a:t>
            </a:r>
          </a:p>
          <a:p>
            <a:r>
              <a:rPr lang="pt-BR" dirty="0"/>
              <a:t>Dualidade Central: A qualidade da pesquisa é moldada por duas decisões cruciais: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Quem entrevistar? (Amostragem)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O que perguntar? (Mensuração)   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 História e Evolução da Pesquisa de </a:t>
            </a:r>
            <a:r>
              <a:rPr lang="pt-BR" dirty="0" err="1"/>
              <a:t>Survey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Pioneiros:</a:t>
            </a:r>
          </a:p>
          <a:p>
            <a:pPr lvl="1"/>
            <a:r>
              <a:rPr lang="pt-BR" dirty="0"/>
              <a:t>Karl Marx (1880): Questionários a trabalhadores franceses sobre exploração.</a:t>
            </a:r>
          </a:p>
          <a:p>
            <a:pPr lvl="1"/>
            <a:r>
              <a:rPr lang="pt-BR" dirty="0"/>
              <a:t>Max Weber: Uso em estudo sobre a ética protestante. </a:t>
            </a:r>
          </a:p>
          <a:p>
            <a:endParaRPr lang="pt-BR" dirty="0"/>
          </a:p>
          <a:p>
            <a:r>
              <a:rPr lang="pt-BR" dirty="0"/>
              <a:t>Século XX:</a:t>
            </a:r>
          </a:p>
          <a:p>
            <a:pPr lvl="1"/>
            <a:r>
              <a:rPr lang="pt-BR" dirty="0"/>
              <a:t>US Bureau </a:t>
            </a:r>
            <a:r>
              <a:rPr lang="pt-BR" dirty="0" err="1"/>
              <a:t>of</a:t>
            </a:r>
            <a:r>
              <a:rPr lang="pt-BR" dirty="0"/>
              <a:t> Census: Contribuições em amostragem e coleta.</a:t>
            </a:r>
          </a:p>
          <a:p>
            <a:pPr lvl="1"/>
            <a:r>
              <a:rPr lang="pt-BR" dirty="0"/>
              <a:t>Gallup: Pioneirismo em pesquisas de opinião.</a:t>
            </a:r>
          </a:p>
          <a:p>
            <a:pPr lvl="1"/>
            <a:r>
              <a:rPr lang="pt-BR" dirty="0"/>
              <a:t>Paul </a:t>
            </a:r>
            <a:r>
              <a:rPr lang="pt-BR" dirty="0" err="1"/>
              <a:t>Lazarsfeld</a:t>
            </a:r>
            <a:r>
              <a:rPr lang="pt-BR" dirty="0"/>
              <a:t>: Desenvolvimento de estudos de painéis e criação de centros de pesquisa (Columbia </a:t>
            </a:r>
            <a:r>
              <a:rPr lang="pt-BR" dirty="0" err="1"/>
              <a:t>University</a:t>
            </a:r>
            <a:r>
              <a:rPr lang="pt-BR" dirty="0"/>
              <a:t>). </a:t>
            </a:r>
          </a:p>
          <a:p>
            <a:pPr marL="514350" indent="-457200"/>
            <a:endParaRPr lang="pt-BR" dirty="0"/>
          </a:p>
          <a:p>
            <a:pPr marL="514350" indent="-457200"/>
            <a:r>
              <a:rPr lang="pt-BR" dirty="0"/>
              <a:t>No Brasil: Crescimento e consolidação da metodologia.  Instituições como IBGE, IBOPE, IPSOS, Vox Populi e Datafolha são atores importantes.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Análise em Pesquisa de </a:t>
            </a:r>
            <a:r>
              <a:rPr lang="pt-BR" dirty="0" err="1"/>
              <a:t>Survey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Análise </a:t>
            </a:r>
            <a:r>
              <a:rPr lang="pt-BR" dirty="0" err="1"/>
              <a:t>Univariada</a:t>
            </a:r>
            <a:r>
              <a:rPr lang="pt-BR" dirty="0"/>
              <a:t>: Descreve uma única variável (frequências, médias, medianas, modas).</a:t>
            </a:r>
          </a:p>
          <a:p>
            <a:pPr lvl="1"/>
            <a:r>
              <a:rPr lang="pt-BR" dirty="0"/>
              <a:t>Exemplo: "Qual a porcentagem de eleitores que aprovam o governo?“</a:t>
            </a:r>
          </a:p>
          <a:p>
            <a:r>
              <a:rPr lang="pt-BR" dirty="0"/>
              <a:t>Análise Bivariada: Associa duas variáveis para predição e explicação (variável independente vs. dependente, tabelas de contingência).</a:t>
            </a:r>
          </a:p>
          <a:p>
            <a:pPr lvl="1"/>
            <a:r>
              <a:rPr lang="pt-BR" dirty="0"/>
              <a:t>Exemplo: "A aprovação do governo varia entre homens e mulheres?“</a:t>
            </a:r>
          </a:p>
          <a:p>
            <a:r>
              <a:rPr lang="pt-BR" dirty="0"/>
              <a:t>Análise Multivariada: Associa múltiplas variáveis simultaneamente (efeito cumulativo de independentes sobre a dependente). </a:t>
            </a:r>
          </a:p>
          <a:p>
            <a:pPr lvl="1"/>
            <a:r>
              <a:rPr lang="pt-BR" dirty="0"/>
              <a:t>Exemplo: "A aprovação do governo é influenciada por idade, renda e escolaridade?“</a:t>
            </a:r>
          </a:p>
          <a:p>
            <a:r>
              <a:rPr lang="pt-BR" dirty="0"/>
              <a:t>Modelo de Elaboração (</a:t>
            </a:r>
            <a:r>
              <a:rPr lang="pt-BR" dirty="0" err="1"/>
              <a:t>Lazarsfeld</a:t>
            </a:r>
            <a:r>
              <a:rPr lang="pt-BR" dirty="0"/>
              <a:t>): Aprofunda relações empíricas controlando variáveis adicionais (replicação, especificação, explicação, interpretação). </a:t>
            </a:r>
          </a:p>
          <a:p>
            <a:r>
              <a:rPr lang="pt-BR" dirty="0"/>
              <a:t>Estatística Social: </a:t>
            </a:r>
          </a:p>
          <a:p>
            <a:pPr lvl="1"/>
            <a:r>
              <a:rPr lang="pt-BR" dirty="0"/>
              <a:t>Descritiva: Redução e associação de dados. </a:t>
            </a:r>
          </a:p>
          <a:p>
            <a:pPr lvl="1"/>
            <a:r>
              <a:rPr lang="pt-BR" dirty="0"/>
              <a:t>Inferencial: Generalização de achados amostrais para a população.    </a:t>
            </a:r>
          </a:p>
          <a:p>
            <a:pPr lvl="1"/>
            <a:endParaRPr lang="pt-BR" dirty="0"/>
          </a:p>
          <a:p>
            <a:r>
              <a:rPr lang="pt-BR" dirty="0"/>
              <a:t>Técnicas Avançadas: Regressão, Análise Fatorial, ANOVA, </a:t>
            </a:r>
            <a:r>
              <a:rPr lang="pt-BR" dirty="0" err="1"/>
              <a:t>etc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Práticas: Políticas Públicas no Brasil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Avaliação de Programas Governamentais: Fornecem base empírica para aprimorar a gestão pública.</a:t>
            </a:r>
          </a:p>
          <a:p>
            <a:r>
              <a:rPr lang="pt-BR" dirty="0"/>
              <a:t>Exemplos Reais:</a:t>
            </a:r>
          </a:p>
          <a:p>
            <a:pPr lvl="1"/>
            <a:r>
              <a:rPr lang="pt-BR" dirty="0"/>
              <a:t>Programa Cisternas: Redução da mortalidade infantil por doenças diarreicas no Semiárido. </a:t>
            </a:r>
          </a:p>
          <a:p>
            <a:pPr lvl="1"/>
            <a:r>
              <a:rPr lang="pt-BR" dirty="0"/>
              <a:t>Pronaf B: Perfil socioeconômico e desafios de acesso à terra para beneficiários.    </a:t>
            </a:r>
          </a:p>
          <a:p>
            <a:pPr lvl="1"/>
            <a:r>
              <a:rPr lang="pt-BR" dirty="0"/>
              <a:t>Operações de Crédito Fida: Retrato homogêneo de beneficiários no Nordeste, dependência de aposentadorias e programas sociais.    </a:t>
            </a:r>
          </a:p>
          <a:p>
            <a:pPr lvl="1"/>
            <a:r>
              <a:rPr lang="pt-BR" dirty="0"/>
              <a:t>Programa UAB: Avaliação da interiorização do ensino superior, subdimensionamento de vagas e queda de efetividade.   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Práticas: Pesquisa Eleitoral e Opinião Pública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Essencial para: Monitorar cenário político, orientar eleitorado e estrategistas de campanha. </a:t>
            </a:r>
          </a:p>
          <a:p>
            <a:pPr lvl="1"/>
            <a:r>
              <a:rPr lang="pt-BR" dirty="0"/>
              <a:t>Exemplos Datafolha: Intenção de voto (e.g., Lula vs. Bolsonaro, Tarcísio em SP).</a:t>
            </a:r>
          </a:p>
          <a:p>
            <a:pPr marL="457200" lvl="1" indent="0">
              <a:buNone/>
            </a:pPr>
            <a:endParaRPr lang="pt-BR" dirty="0"/>
          </a:p>
          <a:p>
            <a:pPr marL="514350" indent="-457200"/>
            <a:r>
              <a:rPr lang="pt-BR" dirty="0"/>
              <a:t>Opinião pública (orgulho de ser brasileiro, percepção econômica, consumo de álcool, prioridades na educação).    </a:t>
            </a:r>
          </a:p>
          <a:p>
            <a:pPr marL="514350" indent="-457200"/>
            <a:r>
              <a:rPr lang="pt-BR" dirty="0"/>
              <a:t>Desafios Atuais na Precisão: </a:t>
            </a:r>
          </a:p>
          <a:p>
            <a:pPr lvl="1"/>
            <a:r>
              <a:rPr lang="pt-BR" dirty="0"/>
              <a:t>Queda nas taxas de resposta e dificuldade de acesso.</a:t>
            </a:r>
          </a:p>
          <a:p>
            <a:pPr lvl="1"/>
            <a:r>
              <a:rPr lang="pt-BR" dirty="0"/>
              <a:t>Transição para celulares e limitações da coleta online.</a:t>
            </a:r>
          </a:p>
          <a:p>
            <a:pPr lvl="1"/>
            <a:r>
              <a:rPr lang="pt-BR" dirty="0"/>
              <a:t>Defasagem do censo impactando a amostragem. </a:t>
            </a:r>
          </a:p>
          <a:p>
            <a:pPr lvl="1"/>
            <a:endParaRPr lang="pt-BR" dirty="0"/>
          </a:p>
          <a:p>
            <a:r>
              <a:rPr lang="pt-BR" dirty="0"/>
              <a:t>Modelos de pesquisa ainda usam métodos antigos (década de 1950). Dilema Ético: Instrumento de orientação vs. potencial de manipulação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Métodos de Amostragem: Fundamentos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que é Amostragem? </a:t>
            </a:r>
          </a:p>
          <a:p>
            <a:pPr lvl="1"/>
            <a:r>
              <a:rPr lang="pt-BR" dirty="0"/>
              <a:t>Seleção de um subconjunto (amostra) de uma população maior para inferir sobre o todo.    </a:t>
            </a:r>
          </a:p>
          <a:p>
            <a:r>
              <a:rPr lang="pt-BR" dirty="0"/>
              <a:t>Perguntas Chave: </a:t>
            </a:r>
          </a:p>
          <a:p>
            <a:pPr lvl="1"/>
            <a:r>
              <a:rPr lang="pt-BR" dirty="0"/>
              <a:t>Quem pesquisar? (Unidade amostral e universo)</a:t>
            </a:r>
          </a:p>
          <a:p>
            <a:pPr lvl="1"/>
            <a:r>
              <a:rPr lang="pt-BR" dirty="0"/>
              <a:t>Quantos pesquisar? (Tamanho da amostra)</a:t>
            </a:r>
          </a:p>
          <a:p>
            <a:pPr lvl="1"/>
            <a:r>
              <a:rPr lang="pt-BR" dirty="0"/>
              <a:t>Como selecionar? (Procedimento de amostragem)</a:t>
            </a:r>
          </a:p>
          <a:p>
            <a:r>
              <a:rPr lang="pt-BR" dirty="0"/>
              <a:t>Amostragem Probabilística: </a:t>
            </a:r>
          </a:p>
          <a:p>
            <a:pPr lvl="1"/>
            <a:r>
              <a:rPr lang="pt-BR" dirty="0"/>
              <a:t>Cada elemento tem chance conhecida e não nula de ser selecionado. </a:t>
            </a:r>
          </a:p>
          <a:p>
            <a:pPr lvl="1"/>
            <a:r>
              <a:rPr lang="pt-BR" dirty="0"/>
              <a:t>Permite generalização estatística para a população total.    </a:t>
            </a:r>
          </a:p>
          <a:p>
            <a:r>
              <a:rPr lang="pt-BR" dirty="0"/>
              <a:t>Amostragem Não Probabilística:</a:t>
            </a:r>
          </a:p>
          <a:p>
            <a:pPr lvl="1"/>
            <a:r>
              <a:rPr lang="pt-BR" dirty="0"/>
              <a:t>Seleção depende do julgamento do pesquisador.    </a:t>
            </a:r>
          </a:p>
          <a:p>
            <a:pPr lvl="1"/>
            <a:r>
              <a:rPr lang="pt-BR" dirty="0"/>
              <a:t>Resultados não podem ser generalizados com a mesma confiança estatística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BE7DB-3F50-718A-0590-5CF69591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5E81-9522-385C-1D0A-725796CC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Métodos de Amostragem: Tipos Probabilísticos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E9369-280C-87A7-6916-42A07B105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Amostragem Aleatória Simples: </a:t>
            </a:r>
          </a:p>
          <a:p>
            <a:pPr lvl="1"/>
            <a:r>
              <a:rPr lang="pt-BR" dirty="0"/>
              <a:t>Cada membro tem chance igual de ser escolhido (sorteio).    </a:t>
            </a:r>
          </a:p>
          <a:p>
            <a:pPr lvl="1"/>
            <a:r>
              <a:rPr lang="pt-BR" dirty="0"/>
              <a:t>Vantagem: Alto grau de aleatoriedade, reduz viés.</a:t>
            </a:r>
          </a:p>
          <a:p>
            <a:pPr lvl="1"/>
            <a:r>
              <a:rPr lang="pt-BR" dirty="0"/>
              <a:t>Desvantagem: Trabalhosa para populações grandes.</a:t>
            </a:r>
          </a:p>
          <a:p>
            <a:r>
              <a:rPr lang="pt-BR" dirty="0"/>
              <a:t>Amostragem Estratificada: População dividida em subpopulações (estratos), com sorteio em cada um.    </a:t>
            </a:r>
          </a:p>
          <a:p>
            <a:pPr lvl="1"/>
            <a:r>
              <a:rPr lang="pt-BR" dirty="0"/>
              <a:t>Vantagem: Garante representação de subgrupos.</a:t>
            </a:r>
          </a:p>
          <a:p>
            <a:pPr lvl="1"/>
            <a:r>
              <a:rPr lang="pt-BR" dirty="0"/>
              <a:t>Exemplo: Dividir uma cidade por bairros para pesquisar renda.    </a:t>
            </a:r>
          </a:p>
          <a:p>
            <a:r>
              <a:rPr lang="pt-BR" dirty="0"/>
              <a:t>Amostragem por Conglomerados: População dividida em pequenos grupos (conglomerados), sorteando-se os grupos. </a:t>
            </a:r>
          </a:p>
          <a:p>
            <a:pPr lvl="1"/>
            <a:r>
              <a:rPr lang="pt-BR" dirty="0"/>
              <a:t>Vantagem: Prática e econômica para populações dispersas.</a:t>
            </a:r>
          </a:p>
          <a:p>
            <a:r>
              <a:rPr lang="pt-BR" dirty="0"/>
              <a:t>Amostragem Sistemática: Seleção periódica de elementos de uma lista ordenada.</a:t>
            </a:r>
          </a:p>
          <a:p>
            <a:pPr lvl="1"/>
            <a:r>
              <a:rPr lang="pt-BR" dirty="0"/>
              <a:t>Vantagem: Facilidade de aplicação.</a:t>
            </a:r>
          </a:p>
          <a:p>
            <a:pPr lvl="1"/>
            <a:r>
              <a:rPr lang="pt-BR" dirty="0"/>
              <a:t>Desvantagem: Risco de viés se houver ciclos na lista.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15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1EDA-080C-C572-EC51-98AAE0D6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0572-60AE-7E21-3010-A74C98A3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Métodos de Amostragem: Tipos Não-Probabilísticos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B9D7-B3A2-10F2-498D-EB0F9B54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0060"/>
            <a:ext cx="8229600" cy="4525963"/>
          </a:xfrm>
        </p:spPr>
        <p:txBody>
          <a:bodyPr>
            <a:noAutofit/>
          </a:bodyPr>
          <a:lstStyle/>
          <a:p>
            <a:r>
              <a:rPr lang="pt-BR" sz="1600" dirty="0"/>
              <a:t>Amostragem por Conveniência (Acidental): </a:t>
            </a:r>
          </a:p>
          <a:p>
            <a:pPr lvl="1"/>
            <a:r>
              <a:rPr lang="pt-BR" sz="1600" dirty="0"/>
              <a:t>Seleciona membros mais acessíveis.    </a:t>
            </a:r>
          </a:p>
          <a:p>
            <a:pPr lvl="1"/>
            <a:r>
              <a:rPr lang="pt-BR" sz="1600" dirty="0"/>
              <a:t>Uso: Pesquisa exploratória, </a:t>
            </a:r>
            <a:r>
              <a:rPr lang="pt-BR" sz="1600" dirty="0" err="1"/>
              <a:t>pré-testes.Exemplo</a:t>
            </a:r>
            <a:r>
              <a:rPr lang="pt-BR" sz="1600" dirty="0"/>
              <a:t>: Teste de produtos em supermercados.    </a:t>
            </a:r>
          </a:p>
          <a:p>
            <a:r>
              <a:rPr lang="pt-BR" sz="1600" dirty="0"/>
              <a:t>Amostragem por Julgamento (Intencional): Seleção baseada na expertise do pesquisador.    </a:t>
            </a:r>
          </a:p>
          <a:p>
            <a:pPr lvl="1"/>
            <a:r>
              <a:rPr lang="pt-BR" sz="1600" dirty="0"/>
              <a:t>Uso: Seleção de especialistas, locais "representativos". </a:t>
            </a:r>
          </a:p>
          <a:p>
            <a:r>
              <a:rPr lang="pt-BR" sz="1600" dirty="0"/>
              <a:t>Amostragem por Cotas: </a:t>
            </a:r>
          </a:p>
          <a:p>
            <a:pPr lvl="1"/>
            <a:r>
              <a:rPr lang="pt-BR" sz="1600" dirty="0"/>
              <a:t>Entrevista número predefinido de pessoas em categorias específicas.    </a:t>
            </a:r>
          </a:p>
          <a:p>
            <a:pPr lvl="1"/>
            <a:r>
              <a:rPr lang="pt-BR" sz="1600" dirty="0"/>
              <a:t>Uso: Pesquisas de opinião eleitoral e de mercado.</a:t>
            </a:r>
          </a:p>
          <a:p>
            <a:pPr lvl="1"/>
            <a:r>
              <a:rPr lang="pt-BR" sz="1600" dirty="0"/>
              <a:t>Exemplo: Entrevistar X% de homens e Y% de mulheres.    </a:t>
            </a:r>
          </a:p>
          <a:p>
            <a:r>
              <a:rPr lang="pt-BR" sz="1600" dirty="0"/>
              <a:t>Amostragem Bola de Neve: Participantes indicam outros.    </a:t>
            </a:r>
          </a:p>
          <a:p>
            <a:pPr lvl="1"/>
            <a:r>
              <a:rPr lang="pt-BR" sz="1600" dirty="0"/>
              <a:t>Uso: Grupos específicos e difíceis de encontrar (e.g., imigrantes indocumentados).    </a:t>
            </a:r>
          </a:p>
          <a:p>
            <a:pPr lvl="1"/>
            <a:r>
              <a:rPr lang="pt-BR" sz="1600" dirty="0"/>
              <a:t>Vantagens Gerais: Mais rápidas e econômicas.    </a:t>
            </a:r>
          </a:p>
          <a:p>
            <a:pPr lvl="1"/>
            <a:r>
              <a:rPr lang="pt-BR" sz="1600" dirty="0"/>
              <a:t>Desvantagens Gerais: Dificuldade em obter resultados não enviesados, risco de distorção de dados.   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28576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5DD30-AFA6-0E03-4B4B-4733810F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Desafios Contemporâneos na Amostragem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684694-0FE0-7D95-67C2-BD8E9CE8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Um "Velho Oeste" da Pesquisa: O cenário atual é complexo e em constante mudança. </a:t>
            </a:r>
          </a:p>
          <a:p>
            <a:pPr lvl="1"/>
            <a:r>
              <a:rPr lang="pt-BR" dirty="0"/>
              <a:t>Queda nas Taxas de Resposta: Aumento drástico desde os anos 90 (</a:t>
            </a:r>
            <a:r>
              <a:rPr lang="pt-BR" dirty="0" err="1"/>
              <a:t>Pew</a:t>
            </a:r>
            <a:r>
              <a:rPr lang="pt-BR" dirty="0"/>
              <a:t> </a:t>
            </a:r>
            <a:r>
              <a:rPr lang="pt-BR" dirty="0" err="1"/>
              <a:t>Research</a:t>
            </a:r>
            <a:r>
              <a:rPr lang="pt-BR" dirty="0"/>
              <a:t> Center: de 36% em 1997 para 9% em 2012). </a:t>
            </a:r>
          </a:p>
          <a:p>
            <a:pPr lvl="1"/>
            <a:r>
              <a:rPr lang="pt-BR" dirty="0"/>
              <a:t>Causas: Preocupações com privacidade, desconfiança, mudanças de estilo de vida.    </a:t>
            </a:r>
          </a:p>
          <a:p>
            <a:r>
              <a:rPr lang="pt-BR" dirty="0"/>
              <a:t>Transição para Telefones Celulares: Mais caros, exclusão de usuários "</a:t>
            </a:r>
            <a:r>
              <a:rPr lang="pt-BR" dirty="0" err="1"/>
              <a:t>cell-only</a:t>
            </a:r>
            <a:r>
              <a:rPr lang="pt-BR" dirty="0"/>
              <a:t>" pode introduzir vieses.    </a:t>
            </a:r>
          </a:p>
          <a:p>
            <a:pPr lvl="1"/>
            <a:r>
              <a:rPr lang="pt-BR" dirty="0"/>
              <a:t>Pesquisas Online e Amostras Não Probabilísticas: Baixo custo, mas AAPOR questiona a generalização de painéis de voluntários.  </a:t>
            </a:r>
          </a:p>
          <a:p>
            <a:pPr lvl="1"/>
            <a:r>
              <a:rPr lang="pt-BR" dirty="0"/>
              <a:t>Amostragem Baseada em Endereços (ABS): Promissora, mas exige aprimoramento na qualidade dos registros.    </a:t>
            </a:r>
          </a:p>
          <a:p>
            <a:r>
              <a:rPr lang="pt-BR" dirty="0"/>
              <a:t>Implicação: A representatividade das pesquisas é cada vez mais difícil de garantir</a:t>
            </a:r>
          </a:p>
        </p:txBody>
      </p:sp>
    </p:spTree>
    <p:extLst>
      <p:ext uri="{BB962C8B-B14F-4D97-AF65-F5344CB8AC3E}">
        <p14:creationId xmlns:p14="http://schemas.microsoft.com/office/powerpoint/2010/main" val="174899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DCA5B-AC3A-9D52-A1A7-0809CDE2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Técnicas de Mensuração: Validade e Confiabilidade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1E952A-66BE-4E86-8721-1310DD0A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Mensuração em </a:t>
            </a:r>
            <a:r>
              <a:rPr lang="pt-BR" dirty="0" err="1"/>
              <a:t>Survey</a:t>
            </a:r>
            <a:r>
              <a:rPr lang="pt-BR" dirty="0"/>
              <a:t>: Atribuir valores a conceitos teóricos abstratos.</a:t>
            </a:r>
          </a:p>
          <a:p>
            <a:pPr lvl="1"/>
            <a:r>
              <a:rPr lang="pt-BR" dirty="0"/>
              <a:t>Confiabilidade: Consistência das medidas (produz resultados semelhantes se repetida).    </a:t>
            </a:r>
          </a:p>
          <a:p>
            <a:pPr lvl="1"/>
            <a:r>
              <a:rPr lang="pt-BR" dirty="0"/>
              <a:t>Testes: Alfa de </a:t>
            </a:r>
            <a:r>
              <a:rPr lang="pt-BR" dirty="0" err="1"/>
              <a:t>Cronbach</a:t>
            </a:r>
            <a:r>
              <a:rPr lang="pt-BR" dirty="0"/>
              <a:t> (consistência interna), Teste-Reteste (consistência temporal).    </a:t>
            </a:r>
          </a:p>
          <a:p>
            <a:pPr lvl="1"/>
            <a:r>
              <a:rPr lang="pt-BR" dirty="0"/>
              <a:t>Importante: Uma medida pode ser confiável, mas inválida.    </a:t>
            </a:r>
          </a:p>
          <a:p>
            <a:r>
              <a:rPr lang="pt-BR" dirty="0"/>
              <a:t>Validade: Capacidade de uma medida capturar com precisão o conceito teórico subjacente. </a:t>
            </a:r>
          </a:p>
          <a:p>
            <a:pPr lvl="1"/>
            <a:r>
              <a:rPr lang="pt-BR" dirty="0"/>
              <a:t>Avaliada pela relação com a teoria (causas e consequências).    </a:t>
            </a:r>
          </a:p>
          <a:p>
            <a:pPr lvl="1"/>
            <a:r>
              <a:rPr lang="pt-BR" dirty="0"/>
              <a:t>Contextualmente específica (espacial e temporalmente).    </a:t>
            </a:r>
          </a:p>
          <a:p>
            <a:pPr lvl="1"/>
            <a:r>
              <a:rPr lang="pt-BR" dirty="0"/>
              <a:t>Exemplo: Confiança Interpessoal no Brasil: Pequenas diferenças na formulação de perguntas ("confiáveis" vs. "dignas de confiança") alteraram drasticamente o ranking do Brasil.    </a:t>
            </a:r>
          </a:p>
          <a:p>
            <a:r>
              <a:rPr lang="pt-BR" dirty="0"/>
              <a:t>Destaca a sensibilidade dos conceitos à forma como são medidos e a importância da adaptação transcultural.    </a:t>
            </a:r>
          </a:p>
        </p:txBody>
      </p:sp>
    </p:spTree>
    <p:extLst>
      <p:ext uri="{BB962C8B-B14F-4D97-AF65-F5344CB8AC3E}">
        <p14:creationId xmlns:p14="http://schemas.microsoft.com/office/powerpoint/2010/main" val="272147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1B9A4-532C-D0CE-B2AE-C7839309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Design de Questionários: Formulação de 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194B51-3354-BB48-E79F-24AA65F8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Instrumento Central: O questionário é a interface entre pesquisador e respondente.</a:t>
            </a:r>
          </a:p>
          <a:p>
            <a:r>
              <a:rPr lang="pt-BR" dirty="0"/>
              <a:t>Tipos de Perguntas:</a:t>
            </a:r>
          </a:p>
          <a:p>
            <a:pPr lvl="1"/>
            <a:r>
              <a:rPr lang="pt-BR" dirty="0"/>
              <a:t>Fechadas: Respostas predefinidas (Múltipla Escolha, Dicotômicas, Resposta Única, Matriz, Ranking).    </a:t>
            </a:r>
          </a:p>
          <a:p>
            <a:pPr lvl="2"/>
            <a:r>
              <a:rPr lang="pt-BR" dirty="0"/>
              <a:t>Vantagem: Facilmente quantificáveis.</a:t>
            </a:r>
          </a:p>
          <a:p>
            <a:pPr lvl="1"/>
            <a:r>
              <a:rPr lang="pt-BR" dirty="0"/>
              <a:t>Abertas: Resposta livre.    </a:t>
            </a:r>
          </a:p>
          <a:p>
            <a:pPr lvl="2"/>
            <a:r>
              <a:rPr lang="pt-BR" dirty="0"/>
              <a:t>Vantagem: Resultados mais aprofundados.</a:t>
            </a:r>
          </a:p>
          <a:p>
            <a:pPr lvl="1"/>
            <a:r>
              <a:rPr lang="pt-BR" dirty="0"/>
              <a:t>NPS (Net Promoter Score): Mede probabilidade de recomendação.   </a:t>
            </a:r>
          </a:p>
          <a:p>
            <a:r>
              <a:rPr lang="pt-BR" dirty="0"/>
              <a:t> Boas Práticas na Formulação: </a:t>
            </a:r>
          </a:p>
          <a:p>
            <a:pPr lvl="1"/>
            <a:r>
              <a:rPr lang="pt-BR" dirty="0"/>
              <a:t>Clareza e Objetividade:</a:t>
            </a:r>
          </a:p>
          <a:p>
            <a:pPr lvl="1"/>
            <a:r>
              <a:rPr lang="pt-BR" dirty="0"/>
              <a:t>Linguagem simples e sem ambiguidades.    </a:t>
            </a:r>
          </a:p>
          <a:p>
            <a:r>
              <a:rPr lang="pt-BR" dirty="0"/>
              <a:t>Evitar Vieses: Perguntas indutoras, </a:t>
            </a:r>
            <a:r>
              <a:rPr lang="pt-BR" dirty="0" err="1"/>
              <a:t>auto-respondentes</a:t>
            </a:r>
            <a:r>
              <a:rPr lang="pt-BR" dirty="0"/>
              <a:t>, emocionais, com jargões, que exijam cálculos.    </a:t>
            </a:r>
          </a:p>
          <a:p>
            <a:pPr lvl="1"/>
            <a:r>
              <a:rPr lang="pt-BR" dirty="0"/>
              <a:t>Foco Único: Cada pergunta deve abordar apenas um assunto.   </a:t>
            </a:r>
          </a:p>
          <a:p>
            <a:pPr lvl="1"/>
            <a:r>
              <a:rPr lang="pt-BR" dirty="0"/>
              <a:t>Escalas de Resposta: Escolha adequada ao tipo de informação (e.g., </a:t>
            </a:r>
            <a:r>
              <a:rPr lang="pt-BR" dirty="0" err="1"/>
              <a:t>Likert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50085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6405C-651D-837B-76BB-370D2A2C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Design de Questionários: Níveis de Especificidade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45256-AA66-EF3B-6B9D-1F0B35FD8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210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"Preferências Construídas" vs. "Não-Atitudes":</a:t>
            </a:r>
          </a:p>
          <a:p>
            <a:pPr lvl="1"/>
            <a:r>
              <a:rPr lang="pt-BR" dirty="0" err="1"/>
              <a:t>Zaller</a:t>
            </a:r>
            <a:r>
              <a:rPr lang="pt-BR" dirty="0"/>
              <a:t>: Respostas são "preferências construídas" no momento da entrevista, refletindo considerações "no topo da mente".    </a:t>
            </a:r>
          </a:p>
          <a:p>
            <a:pPr lvl="1"/>
            <a:r>
              <a:rPr lang="pt-BR" dirty="0"/>
              <a:t>Bishop: Crítica de "não-atitudes" – </a:t>
            </a:r>
          </a:p>
          <a:p>
            <a:pPr lvl="2"/>
            <a:r>
              <a:rPr lang="pt-BR" dirty="0"/>
              <a:t>respostas sem sentido sobre questões muito específicas devido à ignorância política.   </a:t>
            </a:r>
          </a:p>
          <a:p>
            <a:r>
              <a:rPr lang="pt-BR" dirty="0"/>
              <a:t>O "Nível Médio de Especificidade" (</a:t>
            </a:r>
            <a:r>
              <a:rPr lang="pt-BR" dirty="0" err="1"/>
              <a:t>Mezzo</a:t>
            </a:r>
            <a:r>
              <a:rPr lang="pt-BR" dirty="0"/>
              <a:t> </a:t>
            </a:r>
            <a:r>
              <a:rPr lang="pt-BR" dirty="0" err="1"/>
              <a:t>Level</a:t>
            </a:r>
            <a:r>
              <a:rPr lang="pt-BR" dirty="0"/>
              <a:t>):</a:t>
            </a:r>
          </a:p>
          <a:p>
            <a:pPr lvl="1"/>
            <a:r>
              <a:rPr lang="pt-BR" dirty="0"/>
              <a:t>Perguntas devem ser gerais o suficiente para refletir predisposições, mas não tão gerais que sejam vazias, nem tão específicas que exijam conhecimento aprofundado.    </a:t>
            </a:r>
          </a:p>
          <a:p>
            <a:pPr lvl="1"/>
            <a:r>
              <a:rPr lang="pt-BR" dirty="0"/>
              <a:t>Permite uma "janela" para o pensamento político dos cidadãos comuns.    </a:t>
            </a:r>
          </a:p>
          <a:p>
            <a:r>
              <a:rPr lang="pt-BR" dirty="0"/>
              <a:t>Abordagens para Atingir o </a:t>
            </a:r>
            <a:r>
              <a:rPr lang="pt-BR" dirty="0" err="1"/>
              <a:t>Mezzo</a:t>
            </a:r>
            <a:r>
              <a:rPr lang="pt-BR" dirty="0"/>
              <a:t> </a:t>
            </a:r>
            <a:r>
              <a:rPr lang="pt-BR" dirty="0" err="1"/>
              <a:t>Level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Pergunta Única: Formular perguntas em um nível de avaliação geral (e.g., "menos serviços para reduzir gastos" vs. "mais serviços mesmo com aumento de gastos").    </a:t>
            </a:r>
          </a:p>
          <a:p>
            <a:pPr lvl="1"/>
            <a:r>
              <a:rPr lang="pt-BR" dirty="0"/>
              <a:t>Agregação ("</a:t>
            </a:r>
            <a:r>
              <a:rPr lang="pt-BR" dirty="0" err="1"/>
              <a:t>Lumping</a:t>
            </a:r>
            <a:r>
              <a:rPr lang="pt-BR" dirty="0"/>
              <a:t>"): Combinar respostas de várias perguntas para criar uma medida composta (e.g., "humor político" de </a:t>
            </a:r>
            <a:r>
              <a:rPr lang="pt-BR" dirty="0" err="1"/>
              <a:t>Stimson</a:t>
            </a:r>
            <a:r>
              <a:rPr lang="pt-BR" dirty="0"/>
              <a:t>).    </a:t>
            </a:r>
          </a:p>
          <a:p>
            <a:pPr lvl="2"/>
            <a:r>
              <a:rPr lang="pt-BR" dirty="0"/>
              <a:t>Reduz o "ruído" e produz estimativas mais precisas das preferências subjacentes</a:t>
            </a:r>
          </a:p>
        </p:txBody>
      </p:sp>
    </p:spTree>
    <p:extLst>
      <p:ext uri="{BB962C8B-B14F-4D97-AF65-F5344CB8AC3E}">
        <p14:creationId xmlns:p14="http://schemas.microsoft.com/office/powerpoint/2010/main" val="37913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73A40-EA2B-FE81-8B13-0AC3DCF3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Pré-testes de Questionários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29366E-DF4A-8C90-DB66-075F2C8D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Etapa Indispensável: Refinar e melhorar o questionário, identificando inadequações.    </a:t>
            </a:r>
          </a:p>
          <a:p>
            <a:r>
              <a:rPr lang="pt-BR" dirty="0"/>
              <a:t>Metodologia:</a:t>
            </a:r>
          </a:p>
          <a:p>
            <a:pPr lvl="1"/>
            <a:r>
              <a:rPr lang="pt-BR" dirty="0"/>
              <a:t>Aplicação individual a pequena amostra da população-alvo (10-20 respondentes).    </a:t>
            </a:r>
          </a:p>
          <a:p>
            <a:pPr lvl="1"/>
            <a:r>
              <a:rPr lang="pt-BR" dirty="0"/>
              <a:t>Análise das respostas e entrevistas semiestruturadas para feedback detalhado.    </a:t>
            </a:r>
          </a:p>
          <a:p>
            <a:pPr lvl="1"/>
            <a:r>
              <a:rPr lang="pt-BR" dirty="0"/>
              <a:t>Ajustes finos na linguagem, conteúdo e fluxo.    </a:t>
            </a:r>
          </a:p>
          <a:p>
            <a:r>
              <a:rPr lang="pt-BR" dirty="0"/>
              <a:t>Exemplo: ELSA-Brasil: Estudo de coorte de grande escala com pré-testes e estudos piloto sucessivos.    </a:t>
            </a:r>
          </a:p>
          <a:p>
            <a:pPr lvl="1"/>
            <a:r>
              <a:rPr lang="pt-BR" dirty="0"/>
              <a:t>Remoção de perguntas não essenciais, consolidação, ajuste de tempos verbais.    </a:t>
            </a:r>
          </a:p>
          <a:p>
            <a:pPr lvl="1"/>
            <a:r>
              <a:rPr lang="pt-BR" dirty="0"/>
              <a:t>Tradução e adaptação transcultural de instrumentos (e.g., escalas de avaliação de vizinhança, CIS-R).    </a:t>
            </a:r>
          </a:p>
          <a:p>
            <a:pPr lvl="1"/>
            <a:r>
              <a:rPr lang="pt-BR" dirty="0"/>
              <a:t>Ordem dos blocos temáticos para facilitar o recall e minimizar recusas.    </a:t>
            </a:r>
          </a:p>
          <a:p>
            <a:r>
              <a:rPr lang="pt-BR" dirty="0"/>
              <a:t>Desafios em Questionários Multidimensionais: Equilíbrio entre amplitude e profundidade, adaptação cultural.    </a:t>
            </a:r>
          </a:p>
        </p:txBody>
      </p:sp>
    </p:spTree>
    <p:extLst>
      <p:ext uri="{BB962C8B-B14F-4D97-AF65-F5344CB8AC3E}">
        <p14:creationId xmlns:p14="http://schemas.microsoft.com/office/powerpoint/2010/main" val="316971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5A992-2665-F0DF-8AEC-F27A603D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dirty="0" err="1"/>
              <a:t>Survey</a:t>
            </a:r>
            <a:r>
              <a:rPr lang="pt-BR" b="1" i="1" dirty="0"/>
              <a:t> </a:t>
            </a:r>
            <a:r>
              <a:rPr lang="pt-BR" b="1" i="1" dirty="0" err="1"/>
              <a:t>Experiments</a:t>
            </a:r>
            <a:r>
              <a:rPr lang="pt-BR" dirty="0"/>
              <a:t>: 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5B91FE-7365-3E92-B65F-D85E72ED4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Definição: Integração dos princípios da experimentação dentro do formato de um levantamento de dados.    </a:t>
            </a:r>
          </a:p>
          <a:p>
            <a:pPr lvl="1"/>
            <a:r>
              <a:rPr lang="pt-BR" dirty="0"/>
              <a:t>"Tratamentos" (manipulações de variáveis independentes) são entregues via </a:t>
            </a:r>
            <a:r>
              <a:rPr lang="pt-BR" dirty="0" err="1"/>
              <a:t>survey</a:t>
            </a:r>
            <a:r>
              <a:rPr lang="pt-BR" dirty="0"/>
              <a:t>.   </a:t>
            </a:r>
          </a:p>
          <a:p>
            <a:r>
              <a:rPr lang="pt-BR" dirty="0"/>
              <a:t> Principal Vantagem: Gerar generalizações causais robustas em grandes amostras aleatórias.    </a:t>
            </a:r>
          </a:p>
          <a:p>
            <a:pPr lvl="1"/>
            <a:r>
              <a:rPr lang="pt-BR" dirty="0" err="1"/>
              <a:t>Aleatorização</a:t>
            </a:r>
            <a:r>
              <a:rPr lang="pt-BR" dirty="0"/>
              <a:t> dos tratamentos permite controlar variáveis </a:t>
            </a:r>
            <a:r>
              <a:rPr lang="pt-BR" dirty="0" err="1"/>
              <a:t>confundidoras</a:t>
            </a:r>
            <a:r>
              <a:rPr lang="pt-BR" dirty="0"/>
              <a:t>.    </a:t>
            </a:r>
          </a:p>
          <a:p>
            <a:r>
              <a:rPr lang="pt-BR" dirty="0"/>
              <a:t>Desafios na Implementação:</a:t>
            </a:r>
          </a:p>
          <a:p>
            <a:pPr lvl="1"/>
            <a:r>
              <a:rPr lang="pt-BR" dirty="0"/>
              <a:t>Confusão: Omissão de fatores que moderam a relação tratamento-resultado.    </a:t>
            </a:r>
          </a:p>
          <a:p>
            <a:pPr lvl="1"/>
            <a:r>
              <a:rPr lang="pt-BR" dirty="0"/>
              <a:t>Contaminação por Pré-tratamento: Respondentes já expostos a estímulos semelhantes no mundo real.    </a:t>
            </a:r>
          </a:p>
          <a:p>
            <a:pPr lvl="1"/>
            <a:r>
              <a:rPr lang="pt-BR" dirty="0"/>
              <a:t>Falta de Equivalência de Informação: Respondentes interpretam o tratamento de forma diferente devido a experiências de vida</a:t>
            </a:r>
          </a:p>
        </p:txBody>
      </p:sp>
    </p:spTree>
    <p:extLst>
      <p:ext uri="{BB962C8B-B14F-4D97-AF65-F5344CB8AC3E}">
        <p14:creationId xmlns:p14="http://schemas.microsoft.com/office/powerpoint/2010/main" val="304494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1743</Words>
  <Application>Microsoft Office PowerPoint</Application>
  <PresentationFormat>Apresentação na tela (4:3)</PresentationFormat>
  <Paragraphs>160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Tópicos Especiais de Métodos Computacionais</vt:lpstr>
      <vt:lpstr>Metodologia de Survey: Fundamentos, Aplicações e Novas Fronteiras</vt:lpstr>
      <vt:lpstr>O Poder do Survey</vt:lpstr>
      <vt:lpstr> História e Evolução da Pesquisa de Survey</vt:lpstr>
      <vt:lpstr>Tipos de Análise em Pesquisa de Survey</vt:lpstr>
      <vt:lpstr>Aplicações Práticas: Políticas Públicas no Brasil</vt:lpstr>
      <vt:lpstr>Aplicações Práticas: Pesquisa Eleitoral e Opinião Pública</vt:lpstr>
      <vt:lpstr>Métodos de Amostragem: Fundamentos</vt:lpstr>
      <vt:lpstr>Métodos de Amostragem: Tipos Probabilísticos</vt:lpstr>
      <vt:lpstr>Métodos de Amostragem: Tipos Não-Probabilísticos</vt:lpstr>
      <vt:lpstr>Desafios Contemporâneos na Amostragem</vt:lpstr>
      <vt:lpstr>Técnicas de Mensuração: Validade e Confiabilidade</vt:lpstr>
      <vt:lpstr>Design de Questionários: Formulação de Perguntas</vt:lpstr>
      <vt:lpstr>Design de Questionários: Níveis de Especificidade</vt:lpstr>
      <vt:lpstr>Pré-testes de Questionários</vt:lpstr>
      <vt:lpstr>Survey Experiments: Metodologia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 Paula Costa Gama</cp:lastModifiedBy>
  <cp:revision>12</cp:revision>
  <dcterms:created xsi:type="dcterms:W3CDTF">2013-01-27T09:14:16Z</dcterms:created>
  <dcterms:modified xsi:type="dcterms:W3CDTF">2025-06-19T00:23:19Z</dcterms:modified>
  <cp:category/>
</cp:coreProperties>
</file>