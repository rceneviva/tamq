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3.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4" r:id="rId29"/>
    <p:sldId id="285" r:id="rId30"/>
    <p:sldId id="283" r:id="rId31"/>
    <p:sldId id="286" r:id="rId32"/>
    <p:sldId id="287" r:id="rId33"/>
    <p:sldId id="288" r:id="rId34"/>
    <p:sldId id="289" r:id="rId35"/>
    <p:sldId id="290"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33" d="100"/>
          <a:sy n="133" d="100"/>
        </p:scale>
        <p:origin x="-144"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Cobertura de serviço (%)</a:t>
            </a:r>
          </a:p>
        </c:rich>
      </c:tx>
      <c:layout/>
      <c:overlay val="0"/>
    </c:title>
    <c:autoTitleDeleted val="0"/>
    <c:plotArea>
      <c:layout/>
      <c:barChart>
        <c:barDir val="col"/>
        <c:grouping val="clustered"/>
        <c:varyColors val="0"/>
        <c:ser>
          <c:idx val="0"/>
          <c:order val="0"/>
          <c:tx>
            <c:strRef>
              <c:f>Sheet1!$B$1</c:f>
              <c:strCache>
                <c:ptCount val="1"/>
                <c:pt idx="0">
                  <c:v>Região A</c:v>
                </c:pt>
              </c:strCache>
            </c:strRef>
          </c:tx>
          <c:spPr>
            <a:solidFill>
              <a:srgbClr val="C0504D"/>
            </a:solidFill>
            <a:effectLst/>
          </c:spPr>
          <c:invertIfNegative val="0"/>
          <c:cat>
            <c:strRef>
              <c:f>Sheet1!$A$2:$A$4</c:f>
              <c:strCache>
                <c:ptCount val="3"/>
                <c:pt idx="0">
                  <c:v>2018</c:v>
                </c:pt>
                <c:pt idx="1">
                  <c:v>2020</c:v>
                </c:pt>
                <c:pt idx="2">
                  <c:v>2022</c:v>
                </c:pt>
              </c:strCache>
            </c:strRef>
          </c:cat>
          <c:val>
            <c:numRef>
              <c:f>Sheet1!$B$2:$B$4</c:f>
              <c:numCache>
                <c:formatCode>General</c:formatCode>
                <c:ptCount val="3"/>
                <c:pt idx="0">
                  <c:v>60</c:v>
                </c:pt>
                <c:pt idx="1">
                  <c:v>75</c:v>
                </c:pt>
                <c:pt idx="2">
                  <c:v>85</c:v>
                </c:pt>
              </c:numCache>
            </c:numRef>
          </c:val>
        </c:ser>
        <c:ser>
          <c:idx val="1"/>
          <c:order val="1"/>
          <c:tx>
            <c:strRef>
              <c:f>Sheet1!$C$1</c:f>
              <c:strCache>
                <c:ptCount val="1"/>
                <c:pt idx="0">
                  <c:v>Região B</c:v>
                </c:pt>
              </c:strCache>
            </c:strRef>
          </c:tx>
          <c:spPr>
            <a:solidFill>
              <a:srgbClr val="4F81BD"/>
            </a:solidFill>
            <a:effectLst/>
          </c:spPr>
          <c:invertIfNegative val="0"/>
          <c:cat>
            <c:strRef>
              <c:f>Sheet1!$A$2:$A$4</c:f>
              <c:strCache>
                <c:ptCount val="3"/>
                <c:pt idx="0">
                  <c:v>2018</c:v>
                </c:pt>
                <c:pt idx="1">
                  <c:v>2020</c:v>
                </c:pt>
                <c:pt idx="2">
                  <c:v>2022</c:v>
                </c:pt>
              </c:strCache>
            </c:strRef>
          </c:cat>
          <c:val>
            <c:numRef>
              <c:f>Sheet1!$C$2:$C$4</c:f>
              <c:numCache>
                <c:formatCode>General</c:formatCode>
                <c:ptCount val="3"/>
                <c:pt idx="0">
                  <c:v>40</c:v>
                </c:pt>
                <c:pt idx="1">
                  <c:v>55</c:v>
                </c:pt>
                <c:pt idx="2">
                  <c:v>70</c:v>
                </c:pt>
              </c:numCache>
            </c:numRef>
          </c:val>
        </c:ser>
        <c:ser>
          <c:idx val="2"/>
          <c:order val="2"/>
          <c:tx>
            <c:strRef>
              <c:f>Sheet1!$D$1</c:f>
              <c:strCache>
                <c:ptCount val="1"/>
                <c:pt idx="0">
                  <c:v>Região C</c:v>
                </c:pt>
              </c:strCache>
            </c:strRef>
          </c:tx>
          <c:spPr>
            <a:solidFill>
              <a:srgbClr val="9BBB59"/>
            </a:solidFill>
            <a:effectLst/>
          </c:spPr>
          <c:invertIfNegative val="0"/>
          <c:cat>
            <c:strRef>
              <c:f>Sheet1!$A$2:$A$4</c:f>
              <c:strCache>
                <c:ptCount val="3"/>
                <c:pt idx="0">
                  <c:v>2018</c:v>
                </c:pt>
                <c:pt idx="1">
                  <c:v>2020</c:v>
                </c:pt>
                <c:pt idx="2">
                  <c:v>2022</c:v>
                </c:pt>
              </c:strCache>
            </c:strRef>
          </c:cat>
          <c:val>
            <c:numRef>
              <c:f>Sheet1!$D$2:$D$4</c:f>
              <c:numCache>
                <c:formatCode>General</c:formatCode>
                <c:ptCount val="3"/>
                <c:pt idx="0">
                  <c:v>20</c:v>
                </c:pt>
                <c:pt idx="1">
                  <c:v>40</c:v>
                </c:pt>
                <c:pt idx="2">
                  <c:v>60</c:v>
                </c:pt>
              </c:numCache>
            </c:numRef>
          </c:val>
        </c:ser>
        <c:dLbls>
          <c:showLegendKey val="0"/>
          <c:showVal val="0"/>
          <c:showCatName val="0"/>
          <c:showSerName val="0"/>
          <c:showPercent val="0"/>
          <c:showBubbleSize val="0"/>
        </c:dLbls>
        <c:gapWidth val="150"/>
        <c:axId val="123839232"/>
        <c:axId val="123840768"/>
      </c:barChart>
      <c:catAx>
        <c:axId val="123839232"/>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30A18"/>
                </a:solidFill>
                <a:latin typeface="Arial"/>
              </a:defRPr>
            </a:pPr>
            <a:endParaRPr lang="en-US"/>
          </a:p>
        </c:txPr>
        <c:crossAx val="123840768"/>
        <c:crosses val="autoZero"/>
        <c:auto val="1"/>
        <c:lblAlgn val="ctr"/>
        <c:lblOffset val="100"/>
        <c:noMultiLvlLbl val="1"/>
      </c:catAx>
      <c:valAx>
        <c:axId val="123840768"/>
        <c:scaling>
          <c:orientation val="minMax"/>
          <c:max val="1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30A18"/>
                </a:solidFill>
                <a:latin typeface="Arial"/>
              </a:defRPr>
            </a:pPr>
            <a:endParaRPr lang="en-US"/>
          </a:p>
        </c:txPr>
        <c:crossAx val="123839232"/>
        <c:crosses val="autoZero"/>
        <c:crossBetween val="between"/>
      </c:valAx>
      <c:spPr>
        <a:noFill/>
        <a:ln>
          <a:noFill/>
        </a:ln>
        <a:effectLst/>
      </c:spPr>
    </c:plotArea>
    <c:legend>
      <c:legendPos val="r"/>
      <c:layout/>
      <c:overlay val="0"/>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lineChart>
        <c:grouping val="standard"/>
        <c:varyColors val="0"/>
        <c:ser>
          <c:idx val="0"/>
          <c:order val="0"/>
          <c:tx>
            <c:strRef>
              <c:f>Sheet1!$B$1</c:f>
              <c:strCache>
                <c:ptCount val="1"/>
                <c:pt idx="0">
                  <c:v>Controle</c:v>
                </c:pt>
              </c:strCache>
            </c:strRef>
          </c:tx>
          <c:spPr>
            <a:ln w="25400" cap="flat">
              <a:solidFill>
                <a:srgbClr val="C0504D"/>
              </a:solidFill>
              <a:prstDash val="solid"/>
              <a:round/>
            </a:ln>
            <a:effectLst/>
          </c:spPr>
          <c:marker>
            <c:symbol val="circle"/>
            <c:size val="6"/>
            <c:spPr>
              <a:solidFill>
                <a:srgbClr val="C0504D"/>
              </a:solidFill>
              <a:ln w="9525" cap="flat">
                <a:solidFill>
                  <a:srgbClr val="C0504D"/>
                </a:solidFill>
                <a:prstDash val="solid"/>
                <a:round/>
              </a:ln>
              <a:effectLst/>
            </c:spPr>
          </c:marker>
          <c:cat>
            <c:strRef>
              <c:f>Sheet1!$A$2:$A$5</c:f>
              <c:strCache>
                <c:ptCount val="4"/>
                <c:pt idx="0">
                  <c:v>T-1</c:v>
                </c:pt>
                <c:pt idx="1">
                  <c:v>T</c:v>
                </c:pt>
                <c:pt idx="2">
                  <c:v>T+1</c:v>
                </c:pt>
                <c:pt idx="3">
                  <c:v>T+2</c:v>
                </c:pt>
              </c:strCache>
            </c:strRef>
          </c:cat>
          <c:val>
            <c:numRef>
              <c:f>Sheet1!$B$2:$B$5</c:f>
              <c:numCache>
                <c:formatCode>General</c:formatCode>
                <c:ptCount val="4"/>
                <c:pt idx="0">
                  <c:v>10</c:v>
                </c:pt>
                <c:pt idx="1">
                  <c:v>10</c:v>
                </c:pt>
                <c:pt idx="2">
                  <c:v>9</c:v>
                </c:pt>
                <c:pt idx="3">
                  <c:v>9</c:v>
                </c:pt>
              </c:numCache>
            </c:numRef>
          </c:val>
          <c:smooth val="0"/>
        </c:ser>
        <c:ser>
          <c:idx val="1"/>
          <c:order val="1"/>
          <c:tx>
            <c:strRef>
              <c:f>Sheet1!$C$1</c:f>
              <c:strCache>
                <c:ptCount val="1"/>
                <c:pt idx="0">
                  <c:v>Tratado</c:v>
                </c:pt>
              </c:strCache>
            </c:strRef>
          </c:tx>
          <c:spPr>
            <a:ln w="25400" cap="flat">
              <a:solidFill>
                <a:srgbClr val="4F81BD"/>
              </a:solidFill>
              <a:prstDash val="solid"/>
              <a:round/>
            </a:ln>
            <a:effectLst/>
          </c:spPr>
          <c:marker>
            <c:symbol val="circle"/>
            <c:size val="6"/>
            <c:spPr>
              <a:solidFill>
                <a:srgbClr val="4F81BD"/>
              </a:solidFill>
              <a:ln w="9525" cap="flat">
                <a:solidFill>
                  <a:srgbClr val="4F81BD"/>
                </a:solidFill>
                <a:prstDash val="solid"/>
                <a:round/>
              </a:ln>
              <a:effectLst/>
            </c:spPr>
          </c:marker>
          <c:cat>
            <c:strRef>
              <c:f>Sheet1!$A$2:$A$5</c:f>
              <c:strCache>
                <c:ptCount val="4"/>
                <c:pt idx="0">
                  <c:v>T-1</c:v>
                </c:pt>
                <c:pt idx="1">
                  <c:v>T</c:v>
                </c:pt>
                <c:pt idx="2">
                  <c:v>T+1</c:v>
                </c:pt>
                <c:pt idx="3">
                  <c:v>T+2</c:v>
                </c:pt>
              </c:strCache>
            </c:strRef>
          </c:cat>
          <c:val>
            <c:numRef>
              <c:f>Sheet1!$C$2:$C$5</c:f>
              <c:numCache>
                <c:formatCode>General</c:formatCode>
                <c:ptCount val="4"/>
                <c:pt idx="0">
                  <c:v>10</c:v>
                </c:pt>
                <c:pt idx="1">
                  <c:v>10</c:v>
                </c:pt>
                <c:pt idx="2">
                  <c:v>15</c:v>
                </c:pt>
                <c:pt idx="3">
                  <c:v>17</c:v>
                </c:pt>
              </c:numCache>
            </c:numRef>
          </c:val>
          <c:smooth val="0"/>
        </c:ser>
        <c:dLbls>
          <c:showLegendKey val="0"/>
          <c:showVal val="0"/>
          <c:showCatName val="0"/>
          <c:showSerName val="0"/>
          <c:showPercent val="0"/>
          <c:showBubbleSize val="0"/>
        </c:dLbls>
        <c:marker val="1"/>
        <c:smooth val="0"/>
        <c:axId val="124009472"/>
        <c:axId val="124015744"/>
      </c:lineChart>
      <c:catAx>
        <c:axId val="124009472"/>
        <c:scaling>
          <c:orientation val="minMax"/>
        </c:scaling>
        <c:delete val="0"/>
        <c:axPos val="b"/>
        <c:title>
          <c:tx>
            <c:rich>
              <a:bodyPr/>
              <a:lstStyle/>
              <a:p>
                <a:pPr>
                  <a:defRPr b="0" i="0" u="none" strike="noStrike">
                    <a:solidFill>
                      <a:srgbClr val="000000"/>
                    </a:solidFill>
                    <a:latin typeface="Arial"/>
                  </a:defRPr>
                </a:pPr>
                <a:r>
                  <a:rPr lang="en-US" b="0" i="0" u="none" strike="noStrike">
                    <a:solidFill>
                      <a:srgbClr val="000000"/>
                    </a:solidFill>
                    <a:latin typeface="Arial"/>
                  </a:rPr>
                  <a:t>Tempo</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124015744"/>
        <c:crosses val="autoZero"/>
        <c:auto val="1"/>
        <c:lblAlgn val="ctr"/>
        <c:lblOffset val="100"/>
        <c:noMultiLvlLbl val="1"/>
      </c:catAx>
      <c:valAx>
        <c:axId val="124015744"/>
        <c:scaling>
          <c:orientation val="minMax"/>
        </c:scaling>
        <c:delete val="0"/>
        <c:axPos val="l"/>
        <c:majorGridlines>
          <c:spPr>
            <a:ln w="12700" cap="flat">
              <a:solidFill>
                <a:srgbClr val="888888"/>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Indicador (unidades)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124009472"/>
        <c:crosses val="autoZero"/>
        <c:crossBetween val="between"/>
      </c:valAx>
      <c:spPr>
        <a:noFill/>
        <a:ln>
          <a:noFill/>
        </a:ln>
        <a:effectLst/>
      </c:spPr>
    </c:plotArea>
    <c:legend>
      <c:legendPos val="r"/>
      <c:layout/>
      <c:overlay val="0"/>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col"/>
        <c:grouping val="clustered"/>
        <c:varyColors val="0"/>
        <c:ser>
          <c:idx val="0"/>
          <c:order val="0"/>
          <c:tx>
            <c:strRef>
              <c:f>Sheet1!$B$1</c:f>
              <c:strCache>
                <c:ptCount val="1"/>
                <c:pt idx="0">
                  <c:v>Rota Original</c:v>
                </c:pt>
              </c:strCache>
            </c:strRef>
          </c:tx>
          <c:spPr>
            <a:solidFill>
              <a:srgbClr val="C0504D"/>
            </a:solidFill>
            <a:effectLst/>
          </c:spPr>
          <c:invertIfNegative val="0"/>
          <c:cat>
            <c:strRef>
              <c:f>Sheet1!$A$2:$A$3</c:f>
              <c:strCache>
                <c:ptCount val="2"/>
                <c:pt idx="0">
                  <c:v>Tempo (min)</c:v>
                </c:pt>
                <c:pt idx="1">
                  <c:v>Exposição</c:v>
                </c:pt>
              </c:strCache>
            </c:strRef>
          </c:cat>
          <c:val>
            <c:numRef>
              <c:f>Sheet1!$B$2:$B$3</c:f>
              <c:numCache>
                <c:formatCode>General</c:formatCode>
                <c:ptCount val="2"/>
                <c:pt idx="0">
                  <c:v>20</c:v>
                </c:pt>
                <c:pt idx="1">
                  <c:v>10</c:v>
                </c:pt>
              </c:numCache>
            </c:numRef>
          </c:val>
        </c:ser>
        <c:ser>
          <c:idx val="1"/>
          <c:order val="1"/>
          <c:tx>
            <c:strRef>
              <c:f>Sheet1!$C$1</c:f>
              <c:strCache>
                <c:ptCount val="1"/>
                <c:pt idx="0">
                  <c:v>Rota Segura</c:v>
                </c:pt>
              </c:strCache>
            </c:strRef>
          </c:tx>
          <c:spPr>
            <a:solidFill>
              <a:srgbClr val="4F81BD"/>
            </a:solidFill>
            <a:effectLst/>
          </c:spPr>
          <c:invertIfNegative val="0"/>
          <c:cat>
            <c:strRef>
              <c:f>Sheet1!$A$2:$A$3</c:f>
              <c:strCache>
                <c:ptCount val="2"/>
                <c:pt idx="0">
                  <c:v>Tempo (min)</c:v>
                </c:pt>
                <c:pt idx="1">
                  <c:v>Exposição</c:v>
                </c:pt>
              </c:strCache>
            </c:strRef>
          </c:cat>
          <c:val>
            <c:numRef>
              <c:f>Sheet1!$C$2:$C$3</c:f>
              <c:numCache>
                <c:formatCode>General</c:formatCode>
                <c:ptCount val="2"/>
                <c:pt idx="0">
                  <c:v>29.7</c:v>
                </c:pt>
                <c:pt idx="1">
                  <c:v>3</c:v>
                </c:pt>
              </c:numCache>
            </c:numRef>
          </c:val>
        </c:ser>
        <c:dLbls>
          <c:showLegendKey val="0"/>
          <c:showVal val="0"/>
          <c:showCatName val="0"/>
          <c:showSerName val="0"/>
          <c:showPercent val="0"/>
          <c:showBubbleSize val="0"/>
        </c:dLbls>
        <c:gapWidth val="150"/>
        <c:axId val="123863424"/>
        <c:axId val="123864960"/>
      </c:barChart>
      <c:catAx>
        <c:axId val="123863424"/>
        <c:scaling>
          <c:orientation val="minMax"/>
        </c:scaling>
        <c:delete val="0"/>
        <c:axPos val="b"/>
        <c:numFmt formatCode="General" sourceLinked="1"/>
        <c:majorTickMark val="out"/>
        <c:minorTickMark val="none"/>
        <c:tickLblPos val="low"/>
        <c:spPr>
          <a:ln w="12700" cap="flat">
            <a:solidFill>
              <a:srgbClr val="030A18"/>
            </a:solidFill>
            <a:prstDash val="solid"/>
            <a:round/>
          </a:ln>
        </c:spPr>
        <c:txPr>
          <a:bodyPr/>
          <a:lstStyle/>
          <a:p>
            <a:pPr>
              <a:defRPr sz="1200" b="0" i="0" u="none" strike="noStrike">
                <a:solidFill>
                  <a:srgbClr val="030A18"/>
                </a:solidFill>
                <a:latin typeface="Arial"/>
              </a:defRPr>
            </a:pPr>
            <a:endParaRPr lang="en-US"/>
          </a:p>
        </c:txPr>
        <c:crossAx val="123864960"/>
        <c:crosses val="autoZero"/>
        <c:auto val="1"/>
        <c:lblAlgn val="ctr"/>
        <c:lblOffset val="100"/>
        <c:noMultiLvlLbl val="1"/>
      </c:catAx>
      <c:valAx>
        <c:axId val="123864960"/>
        <c:scaling>
          <c:orientation val="minMax"/>
          <c:max val="35"/>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030A18"/>
            </a:solidFill>
            <a:prstDash val="solid"/>
            <a:round/>
          </a:ln>
        </c:spPr>
        <c:txPr>
          <a:bodyPr/>
          <a:lstStyle/>
          <a:p>
            <a:pPr>
              <a:defRPr sz="1200" b="0" i="0" u="none" strike="noStrike">
                <a:solidFill>
                  <a:srgbClr val="030A18"/>
                </a:solidFill>
                <a:latin typeface="Arial"/>
              </a:defRPr>
            </a:pPr>
            <a:endParaRPr lang="en-US"/>
          </a:p>
        </c:txPr>
        <c:crossAx val="123863424"/>
        <c:crosses val="autoZero"/>
        <c:crossBetween val="between"/>
      </c:valAx>
      <c:spPr>
        <a:noFill/>
        <a:ln>
          <a:noFill/>
        </a:ln>
        <a:effectLst/>
      </c:spPr>
    </c:plotArea>
    <c:legend>
      <c:legendPos val="r"/>
      <c:layout/>
      <c:overlay val="0"/>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7583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hyperlink" Target="&#12304;37&#8224;L155-L162&#12305;"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12304;16&#8224;L107-L110&#12305;"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12304;39&#8224;L314-L322&#12305;"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hyperlink" Target="&#12304;26&#8224;L33-L40&#12305;"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12304;39&#8224;L314-L322&#12305;"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hyperlink" Target="&#12304;23&#8224;L43-L51&#12305;" TargetMode="External"/><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hyperlink" Target="&#12304;21&#8224;L102-L110&#12305;" TargetMode="Externa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hyperlink" Target="&#12304;23&#8224;L43-L51&#12305;" TargetMode="External"/><Relationship Id="rId4" Type="http://schemas.openxmlformats.org/officeDocument/2006/relationships/hyperlink" Target="&#12304;16&#8224;L107-L110&#12305;"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hyperlink" Target="&#12304;16&#8224;L107-L110&#12305;" TargetMode="External"/><Relationship Id="rId4" Type="http://schemas.openxmlformats.org/officeDocument/2006/relationships/hyperlink" Target="&#12304;37&#8224;L155-L162&#12305;"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12304;39&#8224;L314-L322&#12305;" TargetMode="External"/><Relationship Id="rId3" Type="http://schemas.openxmlformats.org/officeDocument/2006/relationships/hyperlink" Target="&#12304;37&#8224;L155-L162&#12305;" TargetMode="External"/><Relationship Id="rId7" Type="http://schemas.openxmlformats.org/officeDocument/2006/relationships/hyperlink" Target="&#12304;26&#8224;L33-L40&#12305;"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12304;23&#8224;L43-L51&#12305;" TargetMode="External"/><Relationship Id="rId5" Type="http://schemas.openxmlformats.org/officeDocument/2006/relationships/hyperlink" Target="&#12304;21&#8224;L102-L110&#12305;" TargetMode="External"/><Relationship Id="rId4" Type="http://schemas.openxmlformats.org/officeDocument/2006/relationships/hyperlink" Target="&#12304;16&#8224;L107-L110&#12305;"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12304;37&#8224;L155-L162&#12305;"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12304;16&#8224;L107-L110&#12305;"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hyperlink" Target="&#12304;21&#8224;L102-L110&#12305;"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12304;23&#8224;L43-L51&#12305;"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hyperlink" Target="&#12304;26&#8224;L33-L40&#12305;"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hyperlink" Target="&#12304;39&#8224;L314-L322&#12305;"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hyperlink" Target="&#12304;26&#8224;L33-L40&#12305;" TargetMode="Externa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hyperlink" Target="&#12304;31&#8224;L51-L59&#12305;"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12304;31&#8224;L51-L59&#12305;"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hyperlink" Target="&#12304;31&#8224;L51-L59&#12305;" TargetMode="External"/><Relationship Id="rId4" Type="http://schemas.openxmlformats.org/officeDocument/2006/relationships/chart" Target="../charts/chart3.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hyperlink" Target="&#12304;31&#8224;L51-L59&#12305;"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hyperlink" Target="&#12304;31&#8224;L51-L59&#12305;" TargetMode="Externa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hyperlink" Target="&#12304;23&#8224;L43-L51&#12305;"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hyperlink" Target="&#12304;31&#8224;L51-L59&#12305;"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12304;31&#8224;L51-L59&#12305;"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12304;31&#8224;L51-L59&#12305;"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12304;31&#8224;L51-L59&#12305;"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12304;31&#8224;L51-L59&#12305;"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12304;31&#8224;L51-L59&#12305;"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hyperlink" Target="&#12304;31&#8224;L51-L59&#12305;" TargetMode="External"/><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hyperlink" Target="&#12304;31&#8224;L51-L59&#12305;"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hyperlink" Target="&#12304;31&#8224;L51-L59&#12305;" TargetMode="External"/><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hyperlink" Target="&#12304;31&#8224;L51-L59&#12305;" TargetMode="External"/><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hyperlink" Target="&#12304;31&#8224;L51-L59&#12305;" TargetMode="External"/><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463040"/>
            <a:ext cx="4754880" cy="1828800"/>
          </a:xfrm>
          <a:prstGeom prst="rect">
            <a:avLst/>
          </a:prstGeom>
          <a:noFill/>
          <a:ln/>
        </p:spPr>
        <p:txBody>
          <a:bodyPr wrap="square" lIns="1270" tIns="1270" rIns="1270" bIns="1270" rtlCol="0" anchor="ctr"/>
          <a:lstStyle/>
          <a:p>
            <a:pPr marL="0" indent="0" algn="l">
              <a:buNone/>
            </a:pPr>
            <a:r>
              <a:rPr lang="en-US" sz="3600" b="1" dirty="0">
                <a:solidFill>
                  <a:srgbClr val="030A18"/>
                </a:solidFill>
              </a:rPr>
              <a:t>Teoria e Métodos do Uso de GIS
em Políticas Públicas</a:t>
            </a:r>
            <a:endParaRPr lang="en-US" sz="3600" dirty="0"/>
          </a:p>
        </p:txBody>
      </p:sp>
      <p:sp>
        <p:nvSpPr>
          <p:cNvPr id="3" name="Text 1"/>
          <p:cNvSpPr/>
          <p:nvPr/>
        </p:nvSpPr>
        <p:spPr>
          <a:xfrm>
            <a:off x="365760" y="3108960"/>
            <a:ext cx="4754880" cy="914400"/>
          </a:xfrm>
          <a:prstGeom prst="rect">
            <a:avLst/>
          </a:prstGeom>
          <a:noFill/>
          <a:ln/>
        </p:spPr>
        <p:txBody>
          <a:bodyPr wrap="square" rtlCol="0" anchor="ctr"/>
          <a:lstStyle/>
          <a:p>
            <a:pPr marL="0" indent="0" algn="l">
              <a:buNone/>
            </a:pPr>
            <a:r>
              <a:rPr lang="en-US" sz="1600" dirty="0">
                <a:solidFill>
                  <a:srgbClr val="030A18"/>
                </a:solidFill>
              </a:rPr>
              <a:t>Economia do Desenvolvimento e Políticas Públicas</a:t>
            </a:r>
            <a:endParaRPr lang="en-US" sz="1600" dirty="0"/>
          </a:p>
          <a:p>
            <a:pPr marL="0" indent="0" algn="l">
              <a:buNone/>
            </a:pPr>
            <a:r>
              <a:rPr lang="pt-BR" sz="1200" i="1" dirty="0" smtClean="0">
                <a:solidFill>
                  <a:srgbClr val="97B1DF"/>
                </a:solidFill>
              </a:rPr>
              <a:t>Ricardo Ceneviva</a:t>
            </a:r>
          </a:p>
          <a:p>
            <a:pPr marL="0" indent="0" algn="l">
              <a:buNone/>
            </a:pPr>
            <a:r>
              <a:rPr lang="pt-BR" sz="1200" i="1" dirty="0" smtClean="0">
                <a:solidFill>
                  <a:srgbClr val="97B1DF"/>
                </a:solidFill>
              </a:rPr>
              <a:t>Universidade Federal do ABC</a:t>
            </a:r>
            <a:endParaRPr lang="en-US" sz="1600" dirty="0"/>
          </a:p>
        </p:txBody>
      </p:sp>
      <p:sp>
        <p:nvSpPr>
          <p:cNvPr id="4" name="Text 2"/>
          <p:cNvSpPr/>
          <p:nvPr/>
        </p:nvSpPr>
        <p:spPr>
          <a:xfrm>
            <a:off x="365760" y="4411980"/>
            <a:ext cx="3657600" cy="457200"/>
          </a:xfrm>
          <a:prstGeom prst="rect">
            <a:avLst/>
          </a:prstGeom>
          <a:noFill/>
          <a:ln/>
        </p:spPr>
        <p:txBody>
          <a:bodyPr wrap="square" rtlCol="0" anchor="ctr"/>
          <a:lstStyle/>
          <a:p>
            <a:pPr marL="0" indent="0">
              <a:buNone/>
            </a:pPr>
            <a:r>
              <a:rPr lang="en-US" sz="1200" dirty="0">
                <a:solidFill>
                  <a:srgbClr val="97B1DF"/>
                </a:solidFill>
              </a:rPr>
              <a:t>05/08/2025</a:t>
            </a:r>
            <a:endParaRPr lang="en-US" sz="1200" dirty="0"/>
          </a:p>
        </p:txBody>
      </p:sp>
      <p:pic>
        <p:nvPicPr>
          <p:cNvPr id="5" name="Image 0" descr="preencoded.png"/>
          <p:cNvPicPr>
            <a:picLocks noChangeAspect="1"/>
          </p:cNvPicPr>
          <p:nvPr/>
        </p:nvPicPr>
        <p:blipFill>
          <a:blip r:embed="rId3"/>
          <a:stretch>
            <a:fillRect/>
          </a:stretch>
        </p:blipFill>
        <p:spPr>
          <a:xfrm>
            <a:off x="5604985" y="1621632"/>
            <a:ext cx="3390423" cy="226028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Agenda</a:t>
            </a:r>
            <a:endParaRPr lang="en-US" sz="2400" dirty="0"/>
          </a:p>
        </p:txBody>
      </p:sp>
      <p:pic>
        <p:nvPicPr>
          <p:cNvPr id="3" name="Image 0" descr="preencoded.png"/>
          <p:cNvPicPr>
            <a:picLocks noChangeAspect="1"/>
          </p:cNvPicPr>
          <p:nvPr/>
        </p:nvPicPr>
        <p:blipFill>
          <a:blip r:embed="rId3"/>
          <a:stretch>
            <a:fillRect/>
          </a:stretch>
        </p:blipFill>
        <p:spPr>
          <a:xfrm>
            <a:off x="457200" y="1188720"/>
            <a:ext cx="320040" cy="320040"/>
          </a:xfrm>
          <a:prstGeom prst="rect">
            <a:avLst/>
          </a:prstGeom>
        </p:spPr>
      </p:pic>
      <p:sp>
        <p:nvSpPr>
          <p:cNvPr id="4" name="Text 1"/>
          <p:cNvSpPr/>
          <p:nvPr/>
        </p:nvSpPr>
        <p:spPr>
          <a:xfrm>
            <a:off x="914400" y="1207008"/>
            <a:ext cx="7772400" cy="365760"/>
          </a:xfrm>
          <a:prstGeom prst="rect">
            <a:avLst/>
          </a:prstGeom>
          <a:noFill/>
          <a:ln/>
        </p:spPr>
        <p:txBody>
          <a:bodyPr wrap="square" rtlCol="0" anchor="ctr"/>
          <a:lstStyle/>
          <a:p>
            <a:pPr marL="0" indent="0" algn="l">
              <a:buNone/>
            </a:pPr>
            <a:r>
              <a:rPr lang="en-US" sz="1600" dirty="0">
                <a:solidFill>
                  <a:srgbClr val="030A18"/>
                </a:solidFill>
              </a:rPr>
              <a:t>Fundamentos de GIS</a:t>
            </a:r>
            <a:endParaRPr lang="en-US" sz="1600" dirty="0"/>
          </a:p>
        </p:txBody>
      </p:sp>
      <p:pic>
        <p:nvPicPr>
          <p:cNvPr id="5" name="Image 1" descr="preencoded.png"/>
          <p:cNvPicPr>
            <a:picLocks noChangeAspect="1"/>
          </p:cNvPicPr>
          <p:nvPr/>
        </p:nvPicPr>
        <p:blipFill>
          <a:blip r:embed="rId4"/>
          <a:stretch>
            <a:fillRect/>
          </a:stretch>
        </p:blipFill>
        <p:spPr>
          <a:xfrm>
            <a:off x="457200" y="1737360"/>
            <a:ext cx="320040" cy="320040"/>
          </a:xfrm>
          <a:prstGeom prst="rect">
            <a:avLst/>
          </a:prstGeom>
        </p:spPr>
      </p:pic>
      <p:sp>
        <p:nvSpPr>
          <p:cNvPr id="6" name="Text 2"/>
          <p:cNvSpPr/>
          <p:nvPr/>
        </p:nvSpPr>
        <p:spPr>
          <a:xfrm>
            <a:off x="914400" y="1755648"/>
            <a:ext cx="7772400" cy="365760"/>
          </a:xfrm>
          <a:prstGeom prst="rect">
            <a:avLst/>
          </a:prstGeom>
          <a:noFill/>
          <a:ln/>
        </p:spPr>
        <p:txBody>
          <a:bodyPr wrap="square" rtlCol="0" anchor="ctr"/>
          <a:lstStyle/>
          <a:p>
            <a:pPr marL="0" indent="0" algn="l">
              <a:buNone/>
            </a:pPr>
            <a:r>
              <a:rPr lang="en-US" sz="1600" dirty="0">
                <a:solidFill>
                  <a:srgbClr val="030A18"/>
                </a:solidFill>
              </a:rPr>
              <a:t>GIS e o ciclo de políticas públicas</a:t>
            </a:r>
            <a:endParaRPr lang="en-US" sz="1600" dirty="0"/>
          </a:p>
        </p:txBody>
      </p:sp>
      <p:pic>
        <p:nvPicPr>
          <p:cNvPr id="7" name="Image 2" descr="preencoded.png"/>
          <p:cNvPicPr>
            <a:picLocks noChangeAspect="1"/>
          </p:cNvPicPr>
          <p:nvPr/>
        </p:nvPicPr>
        <p:blipFill>
          <a:blip r:embed="rId5"/>
          <a:stretch>
            <a:fillRect/>
          </a:stretch>
        </p:blipFill>
        <p:spPr>
          <a:xfrm>
            <a:off x="457200" y="2286000"/>
            <a:ext cx="320040" cy="320040"/>
          </a:xfrm>
          <a:prstGeom prst="rect">
            <a:avLst/>
          </a:prstGeom>
        </p:spPr>
      </p:pic>
      <p:sp>
        <p:nvSpPr>
          <p:cNvPr id="8" name="Text 3"/>
          <p:cNvSpPr/>
          <p:nvPr/>
        </p:nvSpPr>
        <p:spPr>
          <a:xfrm>
            <a:off x="914400" y="2304288"/>
            <a:ext cx="7772400" cy="365760"/>
          </a:xfrm>
          <a:prstGeom prst="rect">
            <a:avLst/>
          </a:prstGeom>
          <a:noFill/>
          <a:ln/>
        </p:spPr>
        <p:txBody>
          <a:bodyPr wrap="square" rtlCol="0" anchor="ctr"/>
          <a:lstStyle/>
          <a:p>
            <a:pPr marL="0" indent="0" algn="l">
              <a:buNone/>
            </a:pPr>
            <a:r>
              <a:rPr lang="en-US" sz="1600" dirty="0">
                <a:solidFill>
                  <a:srgbClr val="030A18"/>
                </a:solidFill>
              </a:rPr>
              <a:t>Aplicações empíricas (Brasil &amp; AL)</a:t>
            </a:r>
            <a:endParaRPr lang="en-US" sz="1600" dirty="0"/>
          </a:p>
        </p:txBody>
      </p:sp>
      <p:pic>
        <p:nvPicPr>
          <p:cNvPr id="9" name="Image 3" descr="preencoded.png"/>
          <p:cNvPicPr>
            <a:picLocks noChangeAspect="1"/>
          </p:cNvPicPr>
          <p:nvPr/>
        </p:nvPicPr>
        <p:blipFill>
          <a:blip r:embed="rId6"/>
          <a:stretch>
            <a:fillRect/>
          </a:stretch>
        </p:blipFill>
        <p:spPr>
          <a:xfrm>
            <a:off x="457200" y="2834640"/>
            <a:ext cx="320040" cy="320040"/>
          </a:xfrm>
          <a:prstGeom prst="rect">
            <a:avLst/>
          </a:prstGeom>
        </p:spPr>
      </p:pic>
      <p:sp>
        <p:nvSpPr>
          <p:cNvPr id="10" name="Text 4"/>
          <p:cNvSpPr/>
          <p:nvPr/>
        </p:nvSpPr>
        <p:spPr>
          <a:xfrm>
            <a:off x="914400" y="2852928"/>
            <a:ext cx="7772400" cy="365760"/>
          </a:xfrm>
          <a:prstGeom prst="rect">
            <a:avLst/>
          </a:prstGeom>
          <a:noFill/>
          <a:ln/>
        </p:spPr>
        <p:txBody>
          <a:bodyPr wrap="square" rtlCol="0" anchor="ctr"/>
          <a:lstStyle/>
          <a:p>
            <a:pPr marL="0" indent="0" algn="l">
              <a:buNone/>
            </a:pPr>
            <a:r>
              <a:rPr lang="en-US" sz="1600" dirty="0">
                <a:solidFill>
                  <a:srgbClr val="030A18"/>
                </a:solidFill>
              </a:rPr>
              <a:t>Limitações, dilemas e ética</a:t>
            </a:r>
            <a:endParaRPr lang="en-US" sz="1600" dirty="0"/>
          </a:p>
        </p:txBody>
      </p:sp>
      <p:pic>
        <p:nvPicPr>
          <p:cNvPr id="11" name="Image 4" descr="preencoded.png"/>
          <p:cNvPicPr>
            <a:picLocks noChangeAspect="1"/>
          </p:cNvPicPr>
          <p:nvPr/>
        </p:nvPicPr>
        <p:blipFill>
          <a:blip r:embed="rId7"/>
          <a:stretch>
            <a:fillRect/>
          </a:stretch>
        </p:blipFill>
        <p:spPr>
          <a:xfrm>
            <a:off x="457200" y="3383280"/>
            <a:ext cx="320040" cy="320040"/>
          </a:xfrm>
          <a:prstGeom prst="rect">
            <a:avLst/>
          </a:prstGeom>
        </p:spPr>
      </p:pic>
      <p:sp>
        <p:nvSpPr>
          <p:cNvPr id="12" name="Text 5"/>
          <p:cNvSpPr/>
          <p:nvPr/>
        </p:nvSpPr>
        <p:spPr>
          <a:xfrm>
            <a:off x="914400" y="3401568"/>
            <a:ext cx="7772400" cy="365760"/>
          </a:xfrm>
          <a:prstGeom prst="rect">
            <a:avLst/>
          </a:prstGeom>
          <a:noFill/>
          <a:ln/>
        </p:spPr>
        <p:txBody>
          <a:bodyPr wrap="square" rtlCol="0" anchor="ctr"/>
          <a:lstStyle/>
          <a:p>
            <a:pPr marL="0" indent="0" algn="l">
              <a:buNone/>
            </a:pPr>
            <a:r>
              <a:rPr lang="en-US" sz="1600" dirty="0">
                <a:solidFill>
                  <a:srgbClr val="030A18"/>
                </a:solidFill>
              </a:rPr>
              <a:t>Estudo de caso: Acesso à educação no RJ</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Fundamentos de GIS</a:t>
            </a:r>
            <a:endParaRPr lang="en-US" sz="2400" dirty="0"/>
          </a:p>
        </p:txBody>
      </p:sp>
      <p:sp>
        <p:nvSpPr>
          <p:cNvPr id="3" name="Text 1"/>
          <p:cNvSpPr/>
          <p:nvPr/>
        </p:nvSpPr>
        <p:spPr>
          <a:xfrm>
            <a:off x="457200" y="1097280"/>
            <a:ext cx="4572000" cy="2926080"/>
          </a:xfrm>
          <a:prstGeom prst="rect">
            <a:avLst/>
          </a:prstGeom>
          <a:noFill/>
          <a:ln/>
        </p:spPr>
        <p:txBody>
          <a:bodyPr wrap="square" rtlCol="0" anchor="ctr"/>
          <a:lstStyle/>
          <a:p>
            <a:pPr marL="0" indent="0">
              <a:buNone/>
            </a:pPr>
            <a:r>
              <a:rPr lang="en-US" sz="1200" dirty="0">
                <a:solidFill>
                  <a:srgbClr val="030A18"/>
                </a:solidFill>
              </a:rPr>
              <a:t>• GIS integra hardware, software, pessoas e dados para gerenciar e analisar informações georreferenciadas.
• Permite sobrepor diferentes camadas de dados (físicos, socioeconômicos, ambientais) e revelar padrões espaciais.
• Utiliza sistemas de referência e projeções cartográficas para posicionar objetos no espaço.
</a:t>
            </a:r>
            <a:endParaRPr lang="en-US" sz="1200" dirty="0"/>
          </a:p>
        </p:txBody>
      </p:sp>
      <p:sp>
        <p:nvSpPr>
          <p:cNvPr id="4" name="Shape 2"/>
          <p:cNvSpPr/>
          <p:nvPr/>
        </p:nvSpPr>
        <p:spPr>
          <a:xfrm>
            <a:off x="4754880" y="1463040"/>
            <a:ext cx="3200400" cy="411480"/>
          </a:xfrm>
          <a:prstGeom prst="roundRect">
            <a:avLst>
              <a:gd name="adj" fmla="val 11111"/>
            </a:avLst>
          </a:prstGeom>
          <a:solidFill>
            <a:srgbClr val="E3F2FD"/>
          </a:solidFill>
          <a:ln w="12700">
            <a:solidFill>
              <a:srgbClr val="E3F2FD"/>
            </a:solidFill>
            <a:prstDash val="solid"/>
          </a:ln>
        </p:spPr>
        <p:txBody>
          <a:bodyPr/>
          <a:lstStyle/>
          <a:p>
            <a:endParaRPr/>
          </a:p>
        </p:txBody>
      </p:sp>
      <p:sp>
        <p:nvSpPr>
          <p:cNvPr id="5" name="Text 3"/>
          <p:cNvSpPr/>
          <p:nvPr/>
        </p:nvSpPr>
        <p:spPr>
          <a:xfrm>
            <a:off x="4754880" y="1463040"/>
            <a:ext cx="3200400" cy="411480"/>
          </a:xfrm>
          <a:prstGeom prst="rect">
            <a:avLst/>
          </a:prstGeom>
          <a:noFill/>
          <a:ln/>
        </p:spPr>
        <p:txBody>
          <a:bodyPr wrap="square" rtlCol="0" anchor="ctr"/>
          <a:lstStyle/>
          <a:p>
            <a:pPr marL="0" indent="0" algn="ctr">
              <a:buNone/>
            </a:pPr>
            <a:r>
              <a:rPr lang="en-US" sz="800" dirty="0">
                <a:solidFill>
                  <a:srgbClr val="030A18"/>
                </a:solidFill>
              </a:rPr>
              <a:t>Infraestrutura &amp; serviços</a:t>
            </a:r>
            <a:endParaRPr lang="en-US" sz="800" dirty="0"/>
          </a:p>
        </p:txBody>
      </p:sp>
      <p:sp>
        <p:nvSpPr>
          <p:cNvPr id="6" name="Shape 4"/>
          <p:cNvSpPr/>
          <p:nvPr/>
        </p:nvSpPr>
        <p:spPr>
          <a:xfrm>
            <a:off x="4754880" y="1965960"/>
            <a:ext cx="3200400" cy="411480"/>
          </a:xfrm>
          <a:prstGeom prst="roundRect">
            <a:avLst>
              <a:gd name="adj" fmla="val 11111"/>
            </a:avLst>
          </a:prstGeom>
          <a:solidFill>
            <a:srgbClr val="C8E6C9"/>
          </a:solidFill>
          <a:ln w="12700">
            <a:solidFill>
              <a:srgbClr val="C8E6C9"/>
            </a:solidFill>
            <a:prstDash val="solid"/>
          </a:ln>
        </p:spPr>
        <p:txBody>
          <a:bodyPr/>
          <a:lstStyle/>
          <a:p>
            <a:endParaRPr/>
          </a:p>
        </p:txBody>
      </p:sp>
      <p:sp>
        <p:nvSpPr>
          <p:cNvPr id="7" name="Text 5"/>
          <p:cNvSpPr/>
          <p:nvPr/>
        </p:nvSpPr>
        <p:spPr>
          <a:xfrm>
            <a:off x="4754880" y="1965960"/>
            <a:ext cx="3200400" cy="411480"/>
          </a:xfrm>
          <a:prstGeom prst="rect">
            <a:avLst/>
          </a:prstGeom>
          <a:noFill/>
          <a:ln/>
        </p:spPr>
        <p:txBody>
          <a:bodyPr wrap="square" rtlCol="0" anchor="ctr"/>
          <a:lstStyle/>
          <a:p>
            <a:pPr marL="0" indent="0" algn="ctr">
              <a:buNone/>
            </a:pPr>
            <a:r>
              <a:rPr lang="en-US" sz="800" dirty="0">
                <a:solidFill>
                  <a:srgbClr val="030A18"/>
                </a:solidFill>
              </a:rPr>
              <a:t>Dados socioeconômicos</a:t>
            </a:r>
            <a:endParaRPr lang="en-US" sz="800" dirty="0"/>
          </a:p>
        </p:txBody>
      </p:sp>
      <p:sp>
        <p:nvSpPr>
          <p:cNvPr id="8" name="Shape 6"/>
          <p:cNvSpPr/>
          <p:nvPr/>
        </p:nvSpPr>
        <p:spPr>
          <a:xfrm>
            <a:off x="4754880" y="2468880"/>
            <a:ext cx="3200400" cy="411480"/>
          </a:xfrm>
          <a:prstGeom prst="roundRect">
            <a:avLst>
              <a:gd name="adj" fmla="val 11111"/>
            </a:avLst>
          </a:prstGeom>
          <a:solidFill>
            <a:srgbClr val="FFF9C4"/>
          </a:solidFill>
          <a:ln w="12700">
            <a:solidFill>
              <a:srgbClr val="FFF9C4"/>
            </a:solidFill>
            <a:prstDash val="solid"/>
          </a:ln>
        </p:spPr>
        <p:txBody>
          <a:bodyPr/>
          <a:lstStyle/>
          <a:p>
            <a:endParaRPr/>
          </a:p>
        </p:txBody>
      </p:sp>
      <p:sp>
        <p:nvSpPr>
          <p:cNvPr id="9" name="Text 7"/>
          <p:cNvSpPr/>
          <p:nvPr/>
        </p:nvSpPr>
        <p:spPr>
          <a:xfrm>
            <a:off x="4754880" y="2468880"/>
            <a:ext cx="3200400" cy="411480"/>
          </a:xfrm>
          <a:prstGeom prst="rect">
            <a:avLst/>
          </a:prstGeom>
          <a:noFill/>
          <a:ln/>
        </p:spPr>
        <p:txBody>
          <a:bodyPr wrap="square" rtlCol="0" anchor="ctr"/>
          <a:lstStyle/>
          <a:p>
            <a:pPr marL="0" indent="0" algn="ctr">
              <a:buNone/>
            </a:pPr>
            <a:r>
              <a:rPr lang="en-US" sz="800" dirty="0">
                <a:solidFill>
                  <a:srgbClr val="030A18"/>
                </a:solidFill>
              </a:rPr>
              <a:t>Ambiente físico</a:t>
            </a:r>
            <a:endParaRPr lang="en-US" sz="800" dirty="0"/>
          </a:p>
        </p:txBody>
      </p:sp>
      <p:sp>
        <p:nvSpPr>
          <p:cNvPr id="10" name="Text 8"/>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3">
                  <a:extLst>
                    <a:ext uri="{A12FA001-AC4F-418D-AE19-62706E023703}">
                      <ahyp:hlinkClr xmlns:ahyp="http://schemas.microsoft.com/office/drawing/2018/hyperlinkcolor" xmlns="" val="tx"/>
                    </a:ext>
                  </a:extLst>
                </a:hlinkClick>
              </a:rPr>
              <a:t>[1]</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Modelos de Dados Espaciais</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120640" cy="1828800"/>
        </p:xfrm>
        <a:graphic>
          <a:graphicData uri="http://schemas.openxmlformats.org/drawingml/2006/table">
            <a:tbl>
              <a:tblPr/>
              <a:tblGrid>
                <a:gridCol w="1706880"/>
                <a:gridCol w="1706880"/>
                <a:gridCol w="1706880"/>
              </a:tblGrid>
              <a:tr h="609600">
                <a:tc>
                  <a:txBody>
                    <a:bodyPr/>
                    <a:lstStyle/>
                    <a:p>
                      <a:pPr marL="0" indent="0">
                        <a:buNone/>
                      </a:pPr>
                      <a:r>
                        <a:rPr lang="en-US" sz="1200" b="1" dirty="0">
                          <a:solidFill>
                            <a:srgbClr val="030A18"/>
                          </a:solidFill>
                        </a:rPr>
                        <a:t>Modelo</a:t>
                      </a:r>
                      <a:endParaRPr lang="en-US" sz="120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3F2FD"/>
                    </a:solidFill>
                  </a:tcPr>
                </a:tc>
                <a:tc>
                  <a:txBody>
                    <a:bodyPr/>
                    <a:lstStyle/>
                    <a:p>
                      <a:pPr marL="0" indent="0">
                        <a:buNone/>
                      </a:pPr>
                      <a:r>
                        <a:rPr lang="en-US" sz="1200" b="1" dirty="0">
                          <a:solidFill>
                            <a:srgbClr val="030A18"/>
                          </a:solidFill>
                        </a:rPr>
                        <a:t>Estrutura</a:t>
                      </a:r>
                      <a:endParaRPr lang="en-US" sz="120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3F2FD"/>
                    </a:solidFill>
                  </a:tcPr>
                </a:tc>
                <a:tc>
                  <a:txBody>
                    <a:bodyPr/>
                    <a:lstStyle/>
                    <a:p>
                      <a:pPr marL="0" indent="0">
                        <a:buNone/>
                      </a:pPr>
                      <a:r>
                        <a:rPr lang="en-US" sz="1200" b="1" dirty="0">
                          <a:solidFill>
                            <a:srgbClr val="030A18"/>
                          </a:solidFill>
                        </a:rPr>
                        <a:t>Uso típico</a:t>
                      </a:r>
                      <a:endParaRPr lang="en-US" sz="120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3F2FD"/>
                    </a:solidFill>
                  </a:tcPr>
                </a:tc>
              </a:tr>
              <a:tr h="609600">
                <a:tc>
                  <a:txBody>
                    <a:bodyPr/>
                    <a:lstStyle/>
                    <a:p>
                      <a:pPr marL="0" indent="0">
                        <a:buNone/>
                      </a:pPr>
                      <a:r>
                        <a:rPr lang="en-US" sz="1200" dirty="0">
                          <a:solidFill>
                            <a:srgbClr val="030A18"/>
                          </a:solidFill>
                        </a:rPr>
                        <a:t>Vetorial</a:t>
                      </a:r>
                      <a:endParaRPr lang="en-US" sz="120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030A18"/>
                          </a:solidFill>
                        </a:rPr>
                        <a:t>Pontos, linhas e polígonos</a:t>
                      </a:r>
                      <a:endParaRPr lang="en-US" sz="120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030A18"/>
                          </a:solidFill>
                        </a:rPr>
                        <a:t>Limites administrativos, vias, escolas</a:t>
                      </a:r>
                      <a:endParaRPr lang="en-US" sz="120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609600">
                <a:tc>
                  <a:txBody>
                    <a:bodyPr/>
                    <a:lstStyle/>
                    <a:p>
                      <a:pPr marL="0" indent="0">
                        <a:buNone/>
                      </a:pPr>
                      <a:r>
                        <a:rPr lang="en-US" sz="1200" dirty="0">
                          <a:solidFill>
                            <a:srgbClr val="030A18"/>
                          </a:solidFill>
                        </a:rPr>
                        <a:t>Matricial</a:t>
                      </a:r>
                      <a:endParaRPr lang="en-US" sz="120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6FA"/>
                    </a:solidFill>
                  </a:tcPr>
                </a:tc>
                <a:tc>
                  <a:txBody>
                    <a:bodyPr/>
                    <a:lstStyle/>
                    <a:p>
                      <a:pPr marL="0" indent="0">
                        <a:buNone/>
                      </a:pPr>
                      <a:r>
                        <a:rPr lang="en-US" sz="1200" dirty="0">
                          <a:solidFill>
                            <a:srgbClr val="030A18"/>
                          </a:solidFill>
                        </a:rPr>
                        <a:t>Grades (pixels)</a:t>
                      </a:r>
                      <a:endParaRPr lang="en-US" sz="120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6FA"/>
                    </a:solidFill>
                  </a:tcPr>
                </a:tc>
                <a:tc>
                  <a:txBody>
                    <a:bodyPr/>
                    <a:lstStyle/>
                    <a:p>
                      <a:pPr marL="0" indent="0">
                        <a:buNone/>
                      </a:pPr>
                      <a:r>
                        <a:rPr lang="en-US" sz="1200" dirty="0">
                          <a:solidFill>
                            <a:srgbClr val="030A18"/>
                          </a:solidFill>
                        </a:rPr>
                        <a:t>Imagens de satélite, elevação, densidade</a:t>
                      </a:r>
                      <a:endParaRPr lang="en-US" sz="1200" dirty="0"/>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6FA"/>
                    </a:solidFill>
                  </a:tcPr>
                </a:tc>
              </a:tr>
            </a:tbl>
          </a:graphicData>
        </a:graphic>
      </p:graphicFrame>
      <p:sp>
        <p:nvSpPr>
          <p:cNvPr id="4" name="Shape 1"/>
          <p:cNvSpPr/>
          <p:nvPr/>
        </p:nvSpPr>
        <p:spPr>
          <a:xfrm>
            <a:off x="5943600" y="1463040"/>
            <a:ext cx="182880" cy="182880"/>
          </a:xfrm>
          <a:prstGeom prst="ellipse">
            <a:avLst/>
          </a:prstGeom>
          <a:solidFill>
            <a:srgbClr val="FF7043"/>
          </a:solidFill>
          <a:ln w="12700">
            <a:solidFill>
              <a:srgbClr val="FF7043"/>
            </a:solidFill>
            <a:prstDash val="solid"/>
          </a:ln>
        </p:spPr>
        <p:txBody>
          <a:bodyPr/>
          <a:lstStyle/>
          <a:p>
            <a:endParaRPr/>
          </a:p>
        </p:txBody>
      </p:sp>
      <p:sp>
        <p:nvSpPr>
          <p:cNvPr id="3" name="Text 2"/>
          <p:cNvSpPr/>
          <p:nvPr/>
        </p:nvSpPr>
        <p:spPr>
          <a:xfrm>
            <a:off x="6217920" y="1417320"/>
            <a:ext cx="1828800" cy="274320"/>
          </a:xfrm>
          <a:prstGeom prst="rect">
            <a:avLst/>
          </a:prstGeom>
          <a:noFill/>
          <a:ln/>
        </p:spPr>
        <p:txBody>
          <a:bodyPr wrap="square" rtlCol="0" anchor="ctr"/>
          <a:lstStyle/>
          <a:p>
            <a:pPr marL="0" indent="0">
              <a:buNone/>
            </a:pPr>
            <a:r>
              <a:rPr lang="en-US" sz="800" dirty="0">
                <a:solidFill>
                  <a:srgbClr val="030A18"/>
                </a:solidFill>
              </a:rPr>
              <a:t>Ponto</a:t>
            </a:r>
            <a:endParaRPr lang="en-US" sz="800" dirty="0"/>
          </a:p>
        </p:txBody>
      </p:sp>
      <p:sp>
        <p:nvSpPr>
          <p:cNvPr id="6" name="Shape 3"/>
          <p:cNvSpPr/>
          <p:nvPr/>
        </p:nvSpPr>
        <p:spPr>
          <a:xfrm>
            <a:off x="5943600" y="1828800"/>
            <a:ext cx="548640" cy="18288"/>
          </a:xfrm>
          <a:prstGeom prst="rect">
            <a:avLst/>
          </a:prstGeom>
          <a:solidFill>
            <a:srgbClr val="29B6F6"/>
          </a:solidFill>
          <a:ln w="12700">
            <a:solidFill>
              <a:srgbClr val="29B6F6"/>
            </a:solidFill>
            <a:prstDash val="solid"/>
          </a:ln>
        </p:spPr>
        <p:txBody>
          <a:bodyPr/>
          <a:lstStyle/>
          <a:p>
            <a:endParaRPr/>
          </a:p>
        </p:txBody>
      </p:sp>
      <p:sp>
        <p:nvSpPr>
          <p:cNvPr id="7" name="Text 4"/>
          <p:cNvSpPr/>
          <p:nvPr/>
        </p:nvSpPr>
        <p:spPr>
          <a:xfrm>
            <a:off x="6675120" y="1737360"/>
            <a:ext cx="1371600" cy="274320"/>
          </a:xfrm>
          <a:prstGeom prst="rect">
            <a:avLst/>
          </a:prstGeom>
          <a:noFill/>
          <a:ln/>
        </p:spPr>
        <p:txBody>
          <a:bodyPr wrap="square" rtlCol="0" anchor="ctr"/>
          <a:lstStyle/>
          <a:p>
            <a:pPr marL="0" indent="0">
              <a:buNone/>
            </a:pPr>
            <a:r>
              <a:rPr lang="en-US" sz="800" dirty="0">
                <a:solidFill>
                  <a:srgbClr val="030A18"/>
                </a:solidFill>
              </a:rPr>
              <a:t>Linha</a:t>
            </a:r>
            <a:endParaRPr lang="en-US" sz="800" dirty="0"/>
          </a:p>
        </p:txBody>
      </p:sp>
      <p:sp>
        <p:nvSpPr>
          <p:cNvPr id="8" name="Shape 5"/>
          <p:cNvSpPr/>
          <p:nvPr/>
        </p:nvSpPr>
        <p:spPr>
          <a:xfrm>
            <a:off x="5943600" y="2194560"/>
            <a:ext cx="365760" cy="365760"/>
          </a:xfrm>
          <a:prstGeom prst="triangle">
            <a:avLst/>
          </a:prstGeom>
          <a:solidFill>
            <a:srgbClr val="66BB6A"/>
          </a:solidFill>
          <a:ln w="12700">
            <a:solidFill>
              <a:srgbClr val="66BB6A"/>
            </a:solidFill>
            <a:prstDash val="solid"/>
          </a:ln>
        </p:spPr>
        <p:txBody>
          <a:bodyPr/>
          <a:lstStyle/>
          <a:p>
            <a:endParaRPr/>
          </a:p>
        </p:txBody>
      </p:sp>
      <p:sp>
        <p:nvSpPr>
          <p:cNvPr id="9" name="Text 6"/>
          <p:cNvSpPr/>
          <p:nvPr/>
        </p:nvSpPr>
        <p:spPr>
          <a:xfrm>
            <a:off x="6492240" y="2194560"/>
            <a:ext cx="1828800" cy="274320"/>
          </a:xfrm>
          <a:prstGeom prst="rect">
            <a:avLst/>
          </a:prstGeom>
          <a:noFill/>
          <a:ln/>
        </p:spPr>
        <p:txBody>
          <a:bodyPr wrap="square" rtlCol="0" anchor="ctr"/>
          <a:lstStyle/>
          <a:p>
            <a:pPr marL="0" indent="0">
              <a:buNone/>
            </a:pPr>
            <a:r>
              <a:rPr lang="en-US" sz="800" dirty="0">
                <a:solidFill>
                  <a:srgbClr val="030A18"/>
                </a:solidFill>
              </a:rPr>
              <a:t>Polígono</a:t>
            </a:r>
            <a:endParaRPr lang="en-US" sz="800" dirty="0"/>
          </a:p>
        </p:txBody>
      </p:sp>
      <p:sp>
        <p:nvSpPr>
          <p:cNvPr id="10" name="Shape 7"/>
          <p:cNvSpPr/>
          <p:nvPr/>
        </p:nvSpPr>
        <p:spPr>
          <a:xfrm>
            <a:off x="5943600" y="2743200"/>
            <a:ext cx="137160" cy="137160"/>
          </a:xfrm>
          <a:prstGeom prst="rect">
            <a:avLst/>
          </a:prstGeom>
          <a:solidFill>
            <a:srgbClr val="D1C4E9"/>
          </a:solidFill>
          <a:ln w="12700">
            <a:solidFill>
              <a:srgbClr val="B39DDB"/>
            </a:solidFill>
            <a:prstDash val="solid"/>
          </a:ln>
        </p:spPr>
        <p:txBody>
          <a:bodyPr/>
          <a:lstStyle/>
          <a:p>
            <a:endParaRPr/>
          </a:p>
        </p:txBody>
      </p:sp>
      <p:sp>
        <p:nvSpPr>
          <p:cNvPr id="11" name="Shape 8"/>
          <p:cNvSpPr/>
          <p:nvPr/>
        </p:nvSpPr>
        <p:spPr>
          <a:xfrm>
            <a:off x="6080760" y="2743200"/>
            <a:ext cx="137160" cy="137160"/>
          </a:xfrm>
          <a:prstGeom prst="rect">
            <a:avLst/>
          </a:prstGeom>
          <a:solidFill>
            <a:srgbClr val="EDE7F6"/>
          </a:solidFill>
          <a:ln w="12700">
            <a:solidFill>
              <a:srgbClr val="B39DDB"/>
            </a:solidFill>
            <a:prstDash val="solid"/>
          </a:ln>
        </p:spPr>
        <p:txBody>
          <a:bodyPr/>
          <a:lstStyle/>
          <a:p>
            <a:endParaRPr/>
          </a:p>
        </p:txBody>
      </p:sp>
      <p:sp>
        <p:nvSpPr>
          <p:cNvPr id="12" name="Shape 9"/>
          <p:cNvSpPr/>
          <p:nvPr/>
        </p:nvSpPr>
        <p:spPr>
          <a:xfrm>
            <a:off x="6217920" y="2743200"/>
            <a:ext cx="137160" cy="137160"/>
          </a:xfrm>
          <a:prstGeom prst="rect">
            <a:avLst/>
          </a:prstGeom>
          <a:solidFill>
            <a:srgbClr val="EDE7F6"/>
          </a:solidFill>
          <a:ln w="12700">
            <a:solidFill>
              <a:srgbClr val="B39DDB"/>
            </a:solidFill>
            <a:prstDash val="solid"/>
          </a:ln>
        </p:spPr>
        <p:txBody>
          <a:bodyPr/>
          <a:lstStyle/>
          <a:p>
            <a:endParaRPr/>
          </a:p>
        </p:txBody>
      </p:sp>
      <p:sp>
        <p:nvSpPr>
          <p:cNvPr id="13" name="Shape 10"/>
          <p:cNvSpPr/>
          <p:nvPr/>
        </p:nvSpPr>
        <p:spPr>
          <a:xfrm>
            <a:off x="5943600" y="2880360"/>
            <a:ext cx="137160" cy="137160"/>
          </a:xfrm>
          <a:prstGeom prst="rect">
            <a:avLst/>
          </a:prstGeom>
          <a:solidFill>
            <a:srgbClr val="EDE7F6"/>
          </a:solidFill>
          <a:ln w="12700">
            <a:solidFill>
              <a:srgbClr val="B39DDB"/>
            </a:solidFill>
            <a:prstDash val="solid"/>
          </a:ln>
        </p:spPr>
        <p:txBody>
          <a:bodyPr/>
          <a:lstStyle/>
          <a:p>
            <a:endParaRPr/>
          </a:p>
        </p:txBody>
      </p:sp>
      <p:sp>
        <p:nvSpPr>
          <p:cNvPr id="14" name="Shape 11"/>
          <p:cNvSpPr/>
          <p:nvPr/>
        </p:nvSpPr>
        <p:spPr>
          <a:xfrm>
            <a:off x="6080760" y="2880360"/>
            <a:ext cx="137160" cy="137160"/>
          </a:xfrm>
          <a:prstGeom prst="rect">
            <a:avLst/>
          </a:prstGeom>
          <a:solidFill>
            <a:srgbClr val="D1C4E9"/>
          </a:solidFill>
          <a:ln w="12700">
            <a:solidFill>
              <a:srgbClr val="B39DDB"/>
            </a:solidFill>
            <a:prstDash val="solid"/>
          </a:ln>
        </p:spPr>
        <p:txBody>
          <a:bodyPr/>
          <a:lstStyle/>
          <a:p>
            <a:endParaRPr/>
          </a:p>
        </p:txBody>
      </p:sp>
      <p:sp>
        <p:nvSpPr>
          <p:cNvPr id="15" name="Shape 12"/>
          <p:cNvSpPr/>
          <p:nvPr/>
        </p:nvSpPr>
        <p:spPr>
          <a:xfrm>
            <a:off x="6217920" y="2880360"/>
            <a:ext cx="137160" cy="137160"/>
          </a:xfrm>
          <a:prstGeom prst="rect">
            <a:avLst/>
          </a:prstGeom>
          <a:solidFill>
            <a:srgbClr val="EDE7F6"/>
          </a:solidFill>
          <a:ln w="12700">
            <a:solidFill>
              <a:srgbClr val="B39DDB"/>
            </a:solidFill>
            <a:prstDash val="solid"/>
          </a:ln>
        </p:spPr>
        <p:txBody>
          <a:bodyPr/>
          <a:lstStyle/>
          <a:p>
            <a:endParaRPr/>
          </a:p>
        </p:txBody>
      </p:sp>
      <p:sp>
        <p:nvSpPr>
          <p:cNvPr id="16" name="Shape 13"/>
          <p:cNvSpPr/>
          <p:nvPr/>
        </p:nvSpPr>
        <p:spPr>
          <a:xfrm>
            <a:off x="5943600" y="3017520"/>
            <a:ext cx="137160" cy="137160"/>
          </a:xfrm>
          <a:prstGeom prst="rect">
            <a:avLst/>
          </a:prstGeom>
          <a:solidFill>
            <a:srgbClr val="EDE7F6"/>
          </a:solidFill>
          <a:ln w="12700">
            <a:solidFill>
              <a:srgbClr val="B39DDB"/>
            </a:solidFill>
            <a:prstDash val="solid"/>
          </a:ln>
        </p:spPr>
        <p:txBody>
          <a:bodyPr/>
          <a:lstStyle/>
          <a:p>
            <a:endParaRPr/>
          </a:p>
        </p:txBody>
      </p:sp>
      <p:sp>
        <p:nvSpPr>
          <p:cNvPr id="17" name="Shape 14"/>
          <p:cNvSpPr/>
          <p:nvPr/>
        </p:nvSpPr>
        <p:spPr>
          <a:xfrm>
            <a:off x="6080760" y="3017520"/>
            <a:ext cx="137160" cy="137160"/>
          </a:xfrm>
          <a:prstGeom prst="rect">
            <a:avLst/>
          </a:prstGeom>
          <a:solidFill>
            <a:srgbClr val="EDE7F6"/>
          </a:solidFill>
          <a:ln w="12700">
            <a:solidFill>
              <a:srgbClr val="B39DDB"/>
            </a:solidFill>
            <a:prstDash val="solid"/>
          </a:ln>
        </p:spPr>
        <p:txBody>
          <a:bodyPr/>
          <a:lstStyle/>
          <a:p>
            <a:endParaRPr/>
          </a:p>
        </p:txBody>
      </p:sp>
      <p:sp>
        <p:nvSpPr>
          <p:cNvPr id="18" name="Shape 15"/>
          <p:cNvSpPr/>
          <p:nvPr/>
        </p:nvSpPr>
        <p:spPr>
          <a:xfrm>
            <a:off x="6217920" y="3017520"/>
            <a:ext cx="137160" cy="137160"/>
          </a:xfrm>
          <a:prstGeom prst="rect">
            <a:avLst/>
          </a:prstGeom>
          <a:solidFill>
            <a:srgbClr val="D1C4E9"/>
          </a:solidFill>
          <a:ln w="12700">
            <a:solidFill>
              <a:srgbClr val="B39DDB"/>
            </a:solidFill>
            <a:prstDash val="solid"/>
          </a:ln>
        </p:spPr>
        <p:txBody>
          <a:bodyPr/>
          <a:lstStyle/>
          <a:p>
            <a:endParaRPr/>
          </a:p>
        </p:txBody>
      </p:sp>
      <p:sp>
        <p:nvSpPr>
          <p:cNvPr id="19" name="Text 16"/>
          <p:cNvSpPr/>
          <p:nvPr/>
        </p:nvSpPr>
        <p:spPr>
          <a:xfrm>
            <a:off x="6492240" y="3017520"/>
            <a:ext cx="2286000" cy="274320"/>
          </a:xfrm>
          <a:prstGeom prst="rect">
            <a:avLst/>
          </a:prstGeom>
          <a:noFill/>
          <a:ln/>
        </p:spPr>
        <p:txBody>
          <a:bodyPr wrap="square" rtlCol="0" anchor="ctr"/>
          <a:lstStyle/>
          <a:p>
            <a:pPr marL="0" indent="0">
              <a:buNone/>
            </a:pPr>
            <a:r>
              <a:rPr lang="en-US" sz="800" dirty="0">
                <a:solidFill>
                  <a:srgbClr val="030A18"/>
                </a:solidFill>
              </a:rPr>
              <a:t>Raster</a:t>
            </a:r>
            <a:endParaRPr lang="en-US" sz="800" dirty="0"/>
          </a:p>
        </p:txBody>
      </p:sp>
      <p:sp>
        <p:nvSpPr>
          <p:cNvPr id="20" name="Text 17"/>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3">
                  <a:extLst>
                    <a:ext uri="{A12FA001-AC4F-418D-AE19-62706E023703}">
                      <ahyp:hlinkClr xmlns:ahyp="http://schemas.microsoft.com/office/drawing/2018/hyperlinkcolor" xmlns="" val="tx"/>
                    </a:ext>
                  </a:extLst>
                </a:hlinkClick>
              </a:rPr>
              <a:t>[2]</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GIS e o Ciclo de Políticas Públicas</a:t>
            </a:r>
            <a:endParaRPr lang="en-US" sz="2400" dirty="0"/>
          </a:p>
        </p:txBody>
      </p:sp>
      <p:sp>
        <p:nvSpPr>
          <p:cNvPr id="3" name="Shape 1"/>
          <p:cNvSpPr/>
          <p:nvPr/>
        </p:nvSpPr>
        <p:spPr>
          <a:xfrm>
            <a:off x="731520" y="2286000"/>
            <a:ext cx="2286000" cy="731520"/>
          </a:xfrm>
          <a:prstGeom prst="roundRect">
            <a:avLst>
              <a:gd name="adj" fmla="val 12500"/>
            </a:avLst>
          </a:prstGeom>
          <a:solidFill>
            <a:srgbClr val="E3F2FD"/>
          </a:solidFill>
          <a:ln w="12700">
            <a:solidFill>
              <a:srgbClr val="DDDDDD"/>
            </a:solidFill>
            <a:prstDash val="solid"/>
          </a:ln>
        </p:spPr>
        <p:txBody>
          <a:bodyPr/>
          <a:lstStyle/>
          <a:p>
            <a:endParaRPr/>
          </a:p>
        </p:txBody>
      </p:sp>
      <p:sp>
        <p:nvSpPr>
          <p:cNvPr id="4" name="Text 2"/>
          <p:cNvSpPr/>
          <p:nvPr/>
        </p:nvSpPr>
        <p:spPr>
          <a:xfrm>
            <a:off x="731520" y="2286000"/>
            <a:ext cx="2286000" cy="731520"/>
          </a:xfrm>
          <a:prstGeom prst="rect">
            <a:avLst/>
          </a:prstGeom>
          <a:noFill/>
          <a:ln/>
        </p:spPr>
        <p:txBody>
          <a:bodyPr wrap="square" rtlCol="0" anchor="ctr"/>
          <a:lstStyle/>
          <a:p>
            <a:pPr marL="0" indent="0" algn="ctr">
              <a:buNone/>
            </a:pPr>
            <a:r>
              <a:rPr lang="en-US" sz="1200" dirty="0">
                <a:solidFill>
                  <a:srgbClr val="030A18"/>
                </a:solidFill>
              </a:rPr>
              <a:t>Diagnóstico</a:t>
            </a:r>
            <a:endParaRPr lang="en-US" sz="1200" dirty="0"/>
          </a:p>
          <a:p>
            <a:pPr marL="0" indent="0" algn="ctr">
              <a:buNone/>
            </a:pPr>
            <a:r>
              <a:rPr lang="en-US" sz="1200" dirty="0">
                <a:solidFill>
                  <a:srgbClr val="030A18"/>
                </a:solidFill>
              </a:rPr>
              <a:t>e Agenda</a:t>
            </a:r>
            <a:endParaRPr lang="en-US" sz="1200" dirty="0"/>
          </a:p>
        </p:txBody>
      </p:sp>
      <p:sp>
        <p:nvSpPr>
          <p:cNvPr id="5" name="Shape 3"/>
          <p:cNvSpPr/>
          <p:nvPr/>
        </p:nvSpPr>
        <p:spPr>
          <a:xfrm>
            <a:off x="3657600" y="1097280"/>
            <a:ext cx="2286000" cy="731520"/>
          </a:xfrm>
          <a:prstGeom prst="roundRect">
            <a:avLst>
              <a:gd name="adj" fmla="val 12500"/>
            </a:avLst>
          </a:prstGeom>
          <a:solidFill>
            <a:srgbClr val="FFF3E0"/>
          </a:solidFill>
          <a:ln w="12700">
            <a:solidFill>
              <a:srgbClr val="DDDDDD"/>
            </a:solidFill>
            <a:prstDash val="solid"/>
          </a:ln>
        </p:spPr>
        <p:txBody>
          <a:bodyPr/>
          <a:lstStyle/>
          <a:p>
            <a:endParaRPr/>
          </a:p>
        </p:txBody>
      </p:sp>
      <p:sp>
        <p:nvSpPr>
          <p:cNvPr id="6" name="Text 4"/>
          <p:cNvSpPr/>
          <p:nvPr/>
        </p:nvSpPr>
        <p:spPr>
          <a:xfrm>
            <a:off x="3657600" y="1097280"/>
            <a:ext cx="2286000" cy="731520"/>
          </a:xfrm>
          <a:prstGeom prst="rect">
            <a:avLst/>
          </a:prstGeom>
          <a:noFill/>
          <a:ln/>
        </p:spPr>
        <p:txBody>
          <a:bodyPr wrap="square" rtlCol="0" anchor="ctr"/>
          <a:lstStyle/>
          <a:p>
            <a:pPr marL="0" indent="0" algn="ctr">
              <a:buNone/>
            </a:pPr>
            <a:r>
              <a:rPr lang="en-US" sz="1200" dirty="0">
                <a:solidFill>
                  <a:srgbClr val="030A18"/>
                </a:solidFill>
              </a:rPr>
              <a:t>Formulação</a:t>
            </a:r>
            <a:endParaRPr lang="en-US" sz="1200" dirty="0"/>
          </a:p>
          <a:p>
            <a:pPr marL="0" indent="0" algn="ctr">
              <a:buNone/>
            </a:pPr>
            <a:r>
              <a:rPr lang="en-US" sz="1200" dirty="0">
                <a:solidFill>
                  <a:srgbClr val="030A18"/>
                </a:solidFill>
              </a:rPr>
              <a:t>e Desenho</a:t>
            </a:r>
            <a:endParaRPr lang="en-US" sz="1200" dirty="0"/>
          </a:p>
        </p:txBody>
      </p:sp>
      <p:sp>
        <p:nvSpPr>
          <p:cNvPr id="7" name="Shape 5"/>
          <p:cNvSpPr/>
          <p:nvPr/>
        </p:nvSpPr>
        <p:spPr>
          <a:xfrm>
            <a:off x="6583680" y="2286000"/>
            <a:ext cx="2286000" cy="731520"/>
          </a:xfrm>
          <a:prstGeom prst="roundRect">
            <a:avLst>
              <a:gd name="adj" fmla="val 12500"/>
            </a:avLst>
          </a:prstGeom>
          <a:solidFill>
            <a:srgbClr val="E3F2FD"/>
          </a:solidFill>
          <a:ln w="12700">
            <a:solidFill>
              <a:srgbClr val="DDDDDD"/>
            </a:solidFill>
            <a:prstDash val="solid"/>
          </a:ln>
        </p:spPr>
        <p:txBody>
          <a:bodyPr/>
          <a:lstStyle/>
          <a:p>
            <a:endParaRPr/>
          </a:p>
        </p:txBody>
      </p:sp>
      <p:sp>
        <p:nvSpPr>
          <p:cNvPr id="8" name="Text 6"/>
          <p:cNvSpPr/>
          <p:nvPr/>
        </p:nvSpPr>
        <p:spPr>
          <a:xfrm>
            <a:off x="6583680" y="2286000"/>
            <a:ext cx="2286000" cy="731520"/>
          </a:xfrm>
          <a:prstGeom prst="rect">
            <a:avLst/>
          </a:prstGeom>
          <a:noFill/>
          <a:ln/>
        </p:spPr>
        <p:txBody>
          <a:bodyPr wrap="square" rtlCol="0" anchor="ctr"/>
          <a:lstStyle/>
          <a:p>
            <a:pPr marL="0" indent="0" algn="ctr">
              <a:buNone/>
            </a:pPr>
            <a:r>
              <a:rPr lang="en-US" sz="1200" dirty="0">
                <a:solidFill>
                  <a:srgbClr val="030A18"/>
                </a:solidFill>
              </a:rPr>
              <a:t>Implementação</a:t>
            </a:r>
            <a:endParaRPr lang="en-US" sz="1200" dirty="0"/>
          </a:p>
          <a:p>
            <a:pPr marL="0" indent="0" algn="ctr">
              <a:buNone/>
            </a:pPr>
            <a:r>
              <a:rPr lang="en-US" sz="1200" dirty="0">
                <a:solidFill>
                  <a:srgbClr val="030A18"/>
                </a:solidFill>
              </a:rPr>
              <a:t>e Monitoramento</a:t>
            </a:r>
            <a:endParaRPr lang="en-US" sz="1200" dirty="0"/>
          </a:p>
        </p:txBody>
      </p:sp>
      <p:sp>
        <p:nvSpPr>
          <p:cNvPr id="9" name="Shape 7"/>
          <p:cNvSpPr/>
          <p:nvPr/>
        </p:nvSpPr>
        <p:spPr>
          <a:xfrm>
            <a:off x="3657600" y="3474720"/>
            <a:ext cx="2286000" cy="731520"/>
          </a:xfrm>
          <a:prstGeom prst="roundRect">
            <a:avLst>
              <a:gd name="adj" fmla="val 12500"/>
            </a:avLst>
          </a:prstGeom>
          <a:solidFill>
            <a:srgbClr val="FFF3E0"/>
          </a:solidFill>
          <a:ln w="12700">
            <a:solidFill>
              <a:srgbClr val="DDDDDD"/>
            </a:solidFill>
            <a:prstDash val="solid"/>
          </a:ln>
        </p:spPr>
        <p:txBody>
          <a:bodyPr/>
          <a:lstStyle/>
          <a:p>
            <a:endParaRPr/>
          </a:p>
        </p:txBody>
      </p:sp>
      <p:sp>
        <p:nvSpPr>
          <p:cNvPr id="10" name="Text 8"/>
          <p:cNvSpPr/>
          <p:nvPr/>
        </p:nvSpPr>
        <p:spPr>
          <a:xfrm>
            <a:off x="3657600" y="3474720"/>
            <a:ext cx="2286000" cy="731520"/>
          </a:xfrm>
          <a:prstGeom prst="rect">
            <a:avLst/>
          </a:prstGeom>
          <a:noFill/>
          <a:ln/>
        </p:spPr>
        <p:txBody>
          <a:bodyPr wrap="square" rtlCol="0" anchor="ctr"/>
          <a:lstStyle/>
          <a:p>
            <a:pPr marL="0" indent="0" algn="ctr">
              <a:buNone/>
            </a:pPr>
            <a:r>
              <a:rPr lang="en-US" sz="1200" dirty="0">
                <a:solidFill>
                  <a:srgbClr val="030A18"/>
                </a:solidFill>
              </a:rPr>
              <a:t>Avaliação</a:t>
            </a:r>
            <a:endParaRPr lang="en-US" sz="1200" dirty="0"/>
          </a:p>
          <a:p>
            <a:pPr marL="0" indent="0" algn="ctr">
              <a:buNone/>
            </a:pPr>
            <a:r>
              <a:rPr lang="en-US" sz="1200" dirty="0">
                <a:solidFill>
                  <a:srgbClr val="030A18"/>
                </a:solidFill>
              </a:rPr>
              <a:t>de Impacto</a:t>
            </a:r>
            <a:endParaRPr lang="en-US" sz="1200" dirty="0"/>
          </a:p>
        </p:txBody>
      </p:sp>
      <p:sp>
        <p:nvSpPr>
          <p:cNvPr id="11" name="Shape 9"/>
          <p:cNvSpPr/>
          <p:nvPr/>
        </p:nvSpPr>
        <p:spPr>
          <a:xfrm>
            <a:off x="3017520" y="2651760"/>
            <a:ext cx="822960" cy="0"/>
          </a:xfrm>
          <a:prstGeom prst="line">
            <a:avLst/>
          </a:prstGeom>
          <a:noFill/>
          <a:ln w="12700">
            <a:solidFill>
              <a:srgbClr val="90CAF9"/>
            </a:solidFill>
            <a:prstDash val="solid"/>
            <a:tailEnd type="triangle"/>
          </a:ln>
        </p:spPr>
        <p:txBody>
          <a:bodyPr/>
          <a:lstStyle/>
          <a:p>
            <a:endParaRPr/>
          </a:p>
        </p:txBody>
      </p:sp>
      <p:sp>
        <p:nvSpPr>
          <p:cNvPr id="12" name="Shape 10"/>
          <p:cNvSpPr/>
          <p:nvPr/>
        </p:nvSpPr>
        <p:spPr>
          <a:xfrm>
            <a:off x="5943600" y="1463040"/>
            <a:ext cx="822960" cy="1188720"/>
          </a:xfrm>
          <a:prstGeom prst="line">
            <a:avLst/>
          </a:prstGeom>
          <a:noFill/>
          <a:ln w="12700">
            <a:solidFill>
              <a:srgbClr val="90CAF9"/>
            </a:solidFill>
            <a:prstDash val="solid"/>
            <a:tailEnd type="triangle"/>
          </a:ln>
        </p:spPr>
        <p:txBody>
          <a:bodyPr/>
          <a:lstStyle/>
          <a:p>
            <a:endParaRPr/>
          </a:p>
        </p:txBody>
      </p:sp>
      <p:sp>
        <p:nvSpPr>
          <p:cNvPr id="13" name="Shape 11"/>
          <p:cNvSpPr/>
          <p:nvPr/>
        </p:nvSpPr>
        <p:spPr>
          <a:xfrm>
            <a:off x="5943600" y="3017520"/>
            <a:ext cx="0" cy="1188720"/>
          </a:xfrm>
          <a:prstGeom prst="line">
            <a:avLst/>
          </a:prstGeom>
          <a:noFill/>
          <a:ln w="12700">
            <a:solidFill>
              <a:srgbClr val="90CAF9"/>
            </a:solidFill>
            <a:prstDash val="solid"/>
            <a:tailEnd type="triangle"/>
          </a:ln>
        </p:spPr>
        <p:txBody>
          <a:bodyPr/>
          <a:lstStyle/>
          <a:p>
            <a:endParaRPr/>
          </a:p>
        </p:txBody>
      </p:sp>
      <p:sp>
        <p:nvSpPr>
          <p:cNvPr id="14" name="Shape 12"/>
          <p:cNvSpPr/>
          <p:nvPr/>
        </p:nvSpPr>
        <p:spPr>
          <a:xfrm>
            <a:off x="3017520" y="4114800"/>
            <a:ext cx="0" cy="0"/>
          </a:xfrm>
          <a:prstGeom prst="line">
            <a:avLst/>
          </a:prstGeom>
          <a:noFill/>
          <a:ln w="12700">
            <a:solidFill>
              <a:srgbClr val="90CAF9"/>
            </a:solidFill>
            <a:prstDash val="solid"/>
            <a:tailEnd type="triangle"/>
          </a:ln>
        </p:spPr>
        <p:txBody>
          <a:bodyPr/>
          <a:lstStyle/>
          <a:p>
            <a:endParaRPr/>
          </a:p>
        </p:txBody>
      </p:sp>
      <p:sp>
        <p:nvSpPr>
          <p:cNvPr id="15" name="Text 13"/>
          <p:cNvSpPr/>
          <p:nvPr/>
        </p:nvSpPr>
        <p:spPr>
          <a:xfrm>
            <a:off x="457200" y="4297680"/>
            <a:ext cx="8229600" cy="548640"/>
          </a:xfrm>
          <a:prstGeom prst="rect">
            <a:avLst/>
          </a:prstGeom>
          <a:noFill/>
          <a:ln/>
        </p:spPr>
        <p:txBody>
          <a:bodyPr wrap="square" rtlCol="0" anchor="ctr"/>
          <a:lstStyle/>
          <a:p>
            <a:pPr marL="0" indent="0" algn="ctr">
              <a:buNone/>
            </a:pPr>
            <a:r>
              <a:rPr lang="en-US" sz="1600" b="1" dirty="0">
                <a:solidFill>
                  <a:srgbClr val="030A18"/>
                </a:solidFill>
              </a:rPr>
              <a:t>GIS fornece evidências para cada etapa do ciclo</a:t>
            </a:r>
            <a:endParaRPr lang="en-US" sz="1600" dirty="0"/>
          </a:p>
        </p:txBody>
      </p:sp>
      <p:sp>
        <p:nvSpPr>
          <p:cNvPr id="16" name="Text 14"/>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3">
                  <a:extLst>
                    <a:ext uri="{A12FA001-AC4F-418D-AE19-62706E023703}">
                      <ahyp:hlinkClr xmlns:ahyp="http://schemas.microsoft.com/office/drawing/2018/hyperlinkcolor" xmlns="" val="tx"/>
                    </a:ext>
                  </a:extLst>
                </a:hlinkClick>
              </a:rPr>
              <a:t>[3]</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Diagnóstico e Agenda</a:t>
            </a:r>
            <a:endParaRPr lang="en-US" sz="2400" dirty="0"/>
          </a:p>
        </p:txBody>
      </p:sp>
      <p:pic>
        <p:nvPicPr>
          <p:cNvPr id="3" name="Image 0" descr="preencoded.png"/>
          <p:cNvPicPr>
            <a:picLocks noChangeAspect="1"/>
          </p:cNvPicPr>
          <p:nvPr/>
        </p:nvPicPr>
        <p:blipFill>
          <a:blip r:embed="rId3"/>
          <a:stretch>
            <a:fillRect/>
          </a:stretch>
        </p:blipFill>
        <p:spPr>
          <a:xfrm>
            <a:off x="457200" y="1005840"/>
            <a:ext cx="457200" cy="457200"/>
          </a:xfrm>
          <a:prstGeom prst="rect">
            <a:avLst/>
          </a:prstGeom>
        </p:spPr>
      </p:pic>
      <p:sp>
        <p:nvSpPr>
          <p:cNvPr id="4" name="Text 1"/>
          <p:cNvSpPr/>
          <p:nvPr/>
        </p:nvSpPr>
        <p:spPr>
          <a:xfrm>
            <a:off x="1097280" y="1005840"/>
            <a:ext cx="7589520" cy="1828800"/>
          </a:xfrm>
          <a:prstGeom prst="rect">
            <a:avLst/>
          </a:prstGeom>
          <a:noFill/>
          <a:ln/>
        </p:spPr>
        <p:txBody>
          <a:bodyPr wrap="square" rtlCol="0" anchor="ctr"/>
          <a:lstStyle/>
          <a:p>
            <a:pPr marL="0" indent="0">
              <a:buNone/>
            </a:pPr>
            <a:r>
              <a:rPr lang="en-US" sz="1200" dirty="0">
                <a:solidFill>
                  <a:srgbClr val="030A18"/>
                </a:solidFill>
              </a:rPr>
              <a:t>• Mapear desigualdades territoriais e distribuição de recursos• Identificar hotspots de crime, pobreza e vulnerabilidade• Priorizar problemas com base em evidências geográficas</a:t>
            </a:r>
            <a:endParaRPr lang="en-US" sz="1200" dirty="0"/>
          </a:p>
        </p:txBody>
      </p:sp>
      <p:sp>
        <p:nvSpPr>
          <p:cNvPr id="5"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4">
                  <a:extLst>
                    <a:ext uri="{A12FA001-AC4F-418D-AE19-62706E023703}">
                      <ahyp:hlinkClr xmlns:ahyp="http://schemas.microsoft.com/office/drawing/2018/hyperlinkcolor" xmlns="" val="tx"/>
                    </a:ext>
                  </a:extLst>
                </a:hlinkClick>
              </a:rPr>
              <a:t>[4]</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Formulação e Desenho</a:t>
            </a:r>
            <a:endParaRPr lang="en-US" sz="2400" dirty="0"/>
          </a:p>
        </p:txBody>
      </p:sp>
      <p:pic>
        <p:nvPicPr>
          <p:cNvPr id="3" name="Image 0" descr="preencoded.png"/>
          <p:cNvPicPr>
            <a:picLocks noChangeAspect="1"/>
          </p:cNvPicPr>
          <p:nvPr/>
        </p:nvPicPr>
        <p:blipFill>
          <a:blip r:embed="rId3"/>
          <a:stretch>
            <a:fillRect/>
          </a:stretch>
        </p:blipFill>
        <p:spPr>
          <a:xfrm>
            <a:off x="457200" y="1005840"/>
            <a:ext cx="457200" cy="457200"/>
          </a:xfrm>
          <a:prstGeom prst="rect">
            <a:avLst/>
          </a:prstGeom>
        </p:spPr>
      </p:pic>
      <p:sp>
        <p:nvSpPr>
          <p:cNvPr id="4" name="Text 1"/>
          <p:cNvSpPr/>
          <p:nvPr/>
        </p:nvSpPr>
        <p:spPr>
          <a:xfrm>
            <a:off x="1097280" y="1005840"/>
            <a:ext cx="7589520" cy="2011680"/>
          </a:xfrm>
          <a:prstGeom prst="rect">
            <a:avLst/>
          </a:prstGeom>
          <a:noFill/>
          <a:ln/>
        </p:spPr>
        <p:txBody>
          <a:bodyPr wrap="square" rtlCol="0" anchor="ctr"/>
          <a:lstStyle/>
          <a:p>
            <a:pPr marL="0" indent="0">
              <a:buNone/>
            </a:pPr>
            <a:r>
              <a:rPr lang="en-US" sz="1200" dirty="0">
                <a:solidFill>
                  <a:srgbClr val="030A18"/>
                </a:solidFill>
              </a:rPr>
              <a:t>• Definir objetivos e critérios de alocação com base em mapas de demanda• Simular cenários de expansão de infraestrutura e cobertura• Otimizar localização de equipamentos públicos (escolas, hospitais)</a:t>
            </a:r>
            <a:endParaRPr lang="en-US" sz="1200" dirty="0"/>
          </a:p>
        </p:txBody>
      </p:sp>
      <p:sp>
        <p:nvSpPr>
          <p:cNvPr id="5"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4">
                  <a:extLst>
                    <a:ext uri="{A12FA001-AC4F-418D-AE19-62706E023703}">
                      <ahyp:hlinkClr xmlns:ahyp="http://schemas.microsoft.com/office/drawing/2018/hyperlinkcolor" xmlns="" val="tx"/>
                    </a:ext>
                  </a:extLst>
                </a:hlinkClick>
              </a:rPr>
              <a:t>[5]</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Implementação e Monitoramento</a:t>
            </a:r>
            <a:endParaRPr lang="en-US" sz="2400" dirty="0"/>
          </a:p>
        </p:txBody>
      </p:sp>
      <p:pic>
        <p:nvPicPr>
          <p:cNvPr id="3" name="Image 0" descr="preencoded.png"/>
          <p:cNvPicPr>
            <a:picLocks noChangeAspect="1"/>
          </p:cNvPicPr>
          <p:nvPr/>
        </p:nvPicPr>
        <p:blipFill>
          <a:blip r:embed="rId3"/>
          <a:stretch>
            <a:fillRect/>
          </a:stretch>
        </p:blipFill>
        <p:spPr>
          <a:xfrm>
            <a:off x="457200" y="1005840"/>
            <a:ext cx="457200" cy="457200"/>
          </a:xfrm>
          <a:prstGeom prst="rect">
            <a:avLst/>
          </a:prstGeom>
        </p:spPr>
      </p:pic>
      <p:sp>
        <p:nvSpPr>
          <p:cNvPr id="4" name="Text 1"/>
          <p:cNvSpPr/>
          <p:nvPr/>
        </p:nvSpPr>
        <p:spPr>
          <a:xfrm>
            <a:off x="1097280" y="914400"/>
            <a:ext cx="7315200" cy="1097280"/>
          </a:xfrm>
          <a:prstGeom prst="rect">
            <a:avLst/>
          </a:prstGeom>
          <a:noFill/>
          <a:ln/>
        </p:spPr>
        <p:txBody>
          <a:bodyPr wrap="square" rtlCol="0" anchor="ctr"/>
          <a:lstStyle/>
          <a:p>
            <a:pPr marL="0" indent="0">
              <a:buNone/>
            </a:pPr>
            <a:r>
              <a:rPr lang="en-US" sz="1200" b="1" dirty="0">
                <a:solidFill>
                  <a:srgbClr val="030A18"/>
                </a:solidFill>
              </a:rPr>
              <a:t>Monitorar a execução de políticas em diferentes territórios
</a:t>
            </a:r>
            <a:r>
              <a:rPr lang="en-US" sz="1200" dirty="0">
                <a:solidFill>
                  <a:srgbClr val="030A18"/>
                </a:solidFill>
              </a:rPr>
              <a:t>Comparar indicadores ao longo do tempo e detectar falhas de cobertura.</a:t>
            </a:r>
            <a:endParaRPr lang="en-US" sz="1200" dirty="0"/>
          </a:p>
        </p:txBody>
      </p:sp>
      <p:graphicFrame>
        <p:nvGraphicFramePr>
          <p:cNvPr id="5" name="Chart 0"/>
          <p:cNvGraphicFramePr/>
          <p:nvPr/>
        </p:nvGraphicFramePr>
        <p:xfrm>
          <a:off x="457200" y="2194560"/>
          <a:ext cx="438912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5">
                  <a:extLst>
                    <a:ext uri="{A12FA001-AC4F-418D-AE19-62706E023703}">
                      <ahyp:hlinkClr xmlns:ahyp="http://schemas.microsoft.com/office/drawing/2018/hyperlinkcolor" xmlns="" val="tx"/>
                    </a:ext>
                  </a:extLst>
                </a:hlinkClick>
              </a:rPr>
              <a:t>[6]</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Avaliação de Impacto</a:t>
            </a:r>
            <a:endParaRPr lang="en-US" sz="2400" dirty="0"/>
          </a:p>
        </p:txBody>
      </p:sp>
      <p:pic>
        <p:nvPicPr>
          <p:cNvPr id="3" name="Image 0" descr="preencoded.png"/>
          <p:cNvPicPr>
            <a:picLocks noChangeAspect="1"/>
          </p:cNvPicPr>
          <p:nvPr/>
        </p:nvPicPr>
        <p:blipFill>
          <a:blip r:embed="rId3"/>
          <a:stretch>
            <a:fillRect/>
          </a:stretch>
        </p:blipFill>
        <p:spPr>
          <a:xfrm>
            <a:off x="457200" y="1005840"/>
            <a:ext cx="457200" cy="457200"/>
          </a:xfrm>
          <a:prstGeom prst="rect">
            <a:avLst/>
          </a:prstGeom>
        </p:spPr>
      </p:pic>
      <p:sp>
        <p:nvSpPr>
          <p:cNvPr id="4" name="Text 1"/>
          <p:cNvSpPr/>
          <p:nvPr/>
        </p:nvSpPr>
        <p:spPr>
          <a:xfrm>
            <a:off x="1097280" y="914400"/>
            <a:ext cx="7315200" cy="1097280"/>
          </a:xfrm>
          <a:prstGeom prst="rect">
            <a:avLst/>
          </a:prstGeom>
          <a:noFill/>
          <a:ln/>
        </p:spPr>
        <p:txBody>
          <a:bodyPr wrap="square" rtlCol="0" anchor="ctr"/>
          <a:lstStyle/>
          <a:p>
            <a:pPr marL="0" indent="0">
              <a:buNone/>
            </a:pPr>
            <a:r>
              <a:rPr lang="en-US" sz="1200" b="1" dirty="0">
                <a:solidFill>
                  <a:srgbClr val="030A18"/>
                </a:solidFill>
              </a:rPr>
              <a:t>Comparar territórios tratados e controle ao longo do tempo
</a:t>
            </a:r>
            <a:r>
              <a:rPr lang="en-US" sz="1200" dirty="0">
                <a:solidFill>
                  <a:srgbClr val="030A18"/>
                </a:solidFill>
              </a:rPr>
              <a:t>Controlar autocorrelação espacial e heterogeneidade territorial.</a:t>
            </a:r>
            <a:endParaRPr lang="en-US" sz="1200" dirty="0"/>
          </a:p>
        </p:txBody>
      </p:sp>
      <p:graphicFrame>
        <p:nvGraphicFramePr>
          <p:cNvPr id="5" name="Chart 0"/>
          <p:cNvGraphicFramePr/>
          <p:nvPr/>
        </p:nvGraphicFramePr>
        <p:xfrm>
          <a:off x="457200" y="2194560"/>
          <a:ext cx="457200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5">
                  <a:extLst>
                    <a:ext uri="{A12FA001-AC4F-418D-AE19-62706E023703}">
                      <ahyp:hlinkClr xmlns:ahyp="http://schemas.microsoft.com/office/drawing/2018/hyperlinkcolor" xmlns="" val="tx"/>
                    </a:ext>
                  </a:extLst>
                </a:hlinkClick>
              </a:rPr>
              <a:t>[7]</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Métodos de Análise Espacial</a:t>
            </a:r>
            <a:endParaRPr lang="en-US" sz="2400" dirty="0"/>
          </a:p>
        </p:txBody>
      </p:sp>
      <p:pic>
        <p:nvPicPr>
          <p:cNvPr id="3" name="Image 0" descr="preencoded.png"/>
          <p:cNvPicPr>
            <a:picLocks noChangeAspect="1"/>
          </p:cNvPicPr>
          <p:nvPr/>
        </p:nvPicPr>
        <p:blipFill>
          <a:blip r:embed="rId3"/>
          <a:stretch>
            <a:fillRect/>
          </a:stretch>
        </p:blipFill>
        <p:spPr>
          <a:xfrm>
            <a:off x="457200" y="1005840"/>
            <a:ext cx="457200" cy="457200"/>
          </a:xfrm>
          <a:prstGeom prst="rect">
            <a:avLst/>
          </a:prstGeom>
        </p:spPr>
      </p:pic>
      <p:sp>
        <p:nvSpPr>
          <p:cNvPr id="4" name="Text 1"/>
          <p:cNvSpPr/>
          <p:nvPr/>
        </p:nvSpPr>
        <p:spPr>
          <a:xfrm>
            <a:off x="1097280" y="1005840"/>
            <a:ext cx="7589520" cy="3200400"/>
          </a:xfrm>
          <a:prstGeom prst="rect">
            <a:avLst/>
          </a:prstGeom>
          <a:noFill/>
          <a:ln/>
        </p:spPr>
        <p:txBody>
          <a:bodyPr wrap="square" rtlCol="0" anchor="ctr"/>
          <a:lstStyle/>
          <a:p>
            <a:pPr marL="0" indent="0">
              <a:buNone/>
            </a:pPr>
            <a:r>
              <a:rPr lang="en-US" sz="1200" dirty="0">
                <a:solidFill>
                  <a:srgbClr val="030A18"/>
                </a:solidFill>
              </a:rPr>
              <a:t>• Autocorrelação espacial (Moran's I, LISA)• Regressões espaciais (SAR, SEM, GWR)• Análise de redes e fluxos (logística, tráfego)• Interpolação e modelagem de superfícies</a:t>
            </a:r>
            <a:endParaRPr lang="en-US" sz="1200" dirty="0"/>
          </a:p>
        </p:txBody>
      </p:sp>
      <p:sp>
        <p:nvSpPr>
          <p:cNvPr id="5"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4">
                  <a:extLst>
                    <a:ext uri="{A12FA001-AC4F-418D-AE19-62706E023703}">
                      <ahyp:hlinkClr xmlns:ahyp="http://schemas.microsoft.com/office/drawing/2018/hyperlinkcolor" xmlns="" val="tx"/>
                    </a:ext>
                  </a:extLst>
                </a:hlinkClick>
              </a:rPr>
              <a:t>[8]</a:t>
            </a:r>
            <a:r>
              <a:rPr lang="en-US" sz="600" u="sng" dirty="0">
                <a:solidFill>
                  <a:srgbClr val="0070C0"/>
                </a:solidFill>
                <a:hlinkClick r:id="rId5">
                  <a:extLst>
                    <a:ext uri="{A12FA001-AC4F-418D-AE19-62706E023703}">
                      <ahyp:hlinkClr xmlns:ahyp="http://schemas.microsoft.com/office/drawing/2018/hyperlinkcolor" xmlns="" val="tx"/>
                    </a:ext>
                  </a:extLst>
                </a:hlinkClick>
              </a:rPr>
              <a:t>[9]</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Inferência Causal em Contextos Espaciais</a:t>
            </a:r>
            <a:endParaRPr lang="en-US" sz="2400" dirty="0"/>
          </a:p>
        </p:txBody>
      </p:sp>
      <p:pic>
        <p:nvPicPr>
          <p:cNvPr id="3" name="Image 0" descr="preencoded.png"/>
          <p:cNvPicPr>
            <a:picLocks noChangeAspect="1"/>
          </p:cNvPicPr>
          <p:nvPr/>
        </p:nvPicPr>
        <p:blipFill>
          <a:blip r:embed="rId3"/>
          <a:stretch>
            <a:fillRect/>
          </a:stretch>
        </p:blipFill>
        <p:spPr>
          <a:xfrm>
            <a:off x="457200" y="1005840"/>
            <a:ext cx="457200" cy="457200"/>
          </a:xfrm>
          <a:prstGeom prst="rect">
            <a:avLst/>
          </a:prstGeom>
        </p:spPr>
      </p:pic>
      <p:sp>
        <p:nvSpPr>
          <p:cNvPr id="4" name="Text 1"/>
          <p:cNvSpPr/>
          <p:nvPr/>
        </p:nvSpPr>
        <p:spPr>
          <a:xfrm>
            <a:off x="1097280" y="1005840"/>
            <a:ext cx="7589520" cy="3200400"/>
          </a:xfrm>
          <a:prstGeom prst="rect">
            <a:avLst/>
          </a:prstGeom>
          <a:noFill/>
          <a:ln/>
        </p:spPr>
        <p:txBody>
          <a:bodyPr wrap="square" rtlCol="0" anchor="ctr"/>
          <a:lstStyle/>
          <a:p>
            <a:pPr marL="0" indent="0">
              <a:buNone/>
            </a:pPr>
            <a:r>
              <a:rPr lang="en-US" sz="1200" dirty="0">
                <a:solidFill>
                  <a:srgbClr val="030A18"/>
                </a:solidFill>
              </a:rPr>
              <a:t>• Explorar variação geográfica exógena (rios, fronteiras)
• Usar limites administrativos como experimentos naturais
• Combinar GIS com delineamentos quasi-experimentais (RDD espacial, IV geográfico)• Atenção a endogeneidade na localização de intervenções</a:t>
            </a:r>
            <a:endParaRPr lang="en-US" sz="1200" dirty="0"/>
          </a:p>
        </p:txBody>
      </p:sp>
      <p:sp>
        <p:nvSpPr>
          <p:cNvPr id="5"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4">
                  <a:extLst>
                    <a:ext uri="{A12FA001-AC4F-418D-AE19-62706E023703}">
                      <ahyp:hlinkClr xmlns:ahyp="http://schemas.microsoft.com/office/drawing/2018/hyperlinkcolor" xmlns="" val="tx"/>
                    </a:ext>
                  </a:extLst>
                </a:hlinkClick>
              </a:rPr>
              <a:t>[10]</a:t>
            </a:r>
            <a:r>
              <a:rPr lang="en-US" sz="600" u="sng" dirty="0">
                <a:solidFill>
                  <a:srgbClr val="0070C0"/>
                </a:solidFill>
                <a:hlinkClick r:id="rId5">
                  <a:extLst>
                    <a:ext uri="{A12FA001-AC4F-418D-AE19-62706E023703}">
                      <ahyp:hlinkClr xmlns:ahyp="http://schemas.microsoft.com/office/drawing/2018/hyperlinkcolor" xmlns="" val="tx"/>
                    </a:ext>
                  </a:extLst>
                </a:hlinkClick>
              </a:rPr>
              <a:t>[11]</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Aplicações Empíricas – Visão Geral</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8412480" cy="2743202"/>
        </p:xfrm>
        <a:graphic>
          <a:graphicData uri="http://schemas.openxmlformats.org/drawingml/2006/table">
            <a:tbl>
              <a:tblPr/>
              <a:tblGrid>
                <a:gridCol w="1828800"/>
                <a:gridCol w="1645920"/>
                <a:gridCol w="1645920"/>
                <a:gridCol w="3291840"/>
              </a:tblGrid>
              <a:tr h="391886">
                <a:tc>
                  <a:txBody>
                    <a:bodyPr/>
                    <a:lstStyle/>
                    <a:p>
                      <a:pPr marL="0" indent="0">
                        <a:buNone/>
                      </a:pPr>
                      <a:r>
                        <a:rPr lang="en-US" sz="800" b="1" dirty="0">
                          <a:solidFill>
                            <a:srgbClr val="030A18"/>
                          </a:solidFill>
                        </a:rPr>
                        <a:t>Artigo</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solidFill>
                      <a:srgbClr val="E3F2FD"/>
                    </a:solidFill>
                  </a:tcPr>
                </a:tc>
                <a:tc>
                  <a:txBody>
                    <a:bodyPr/>
                    <a:lstStyle/>
                    <a:p>
                      <a:pPr marL="0" indent="0">
                        <a:buNone/>
                      </a:pPr>
                      <a:r>
                        <a:rPr lang="en-US" sz="800" b="1" dirty="0">
                          <a:solidFill>
                            <a:srgbClr val="030A18"/>
                          </a:solidFill>
                        </a:rPr>
                        <a:t>Contexto</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solidFill>
                      <a:srgbClr val="E3F2FD"/>
                    </a:solidFill>
                  </a:tcPr>
                </a:tc>
                <a:tc>
                  <a:txBody>
                    <a:bodyPr/>
                    <a:lstStyle/>
                    <a:p>
                      <a:pPr marL="0" indent="0">
                        <a:buNone/>
                      </a:pPr>
                      <a:r>
                        <a:rPr lang="en-US" sz="800" b="1" dirty="0">
                          <a:solidFill>
                            <a:srgbClr val="030A18"/>
                          </a:solidFill>
                        </a:rPr>
                        <a:t>Método</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solidFill>
                      <a:srgbClr val="E3F2FD"/>
                    </a:solidFill>
                  </a:tcPr>
                </a:tc>
                <a:tc>
                  <a:txBody>
                    <a:bodyPr/>
                    <a:lstStyle/>
                    <a:p>
                      <a:pPr marL="0" indent="0">
                        <a:buNone/>
                      </a:pPr>
                      <a:r>
                        <a:rPr lang="en-US" sz="800" b="1" dirty="0">
                          <a:solidFill>
                            <a:srgbClr val="030A18"/>
                          </a:solidFill>
                        </a:rPr>
                        <a:t>Principais achados</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solidFill>
                      <a:srgbClr val="E3F2FD"/>
                    </a:solidFill>
                  </a:tcPr>
                </a:tc>
              </a:tr>
              <a:tr h="391886">
                <a:tc>
                  <a:txBody>
                    <a:bodyPr/>
                    <a:lstStyle/>
                    <a:p>
                      <a:pPr marL="0" indent="0">
                        <a:buNone/>
                      </a:pPr>
                      <a:r>
                        <a:rPr lang="en-US" sz="800" dirty="0">
                          <a:solidFill>
                            <a:srgbClr val="030A18"/>
                          </a:solidFill>
                        </a:rPr>
                        <a:t>Duflo &amp; Pande (2007)</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030A18"/>
                          </a:solidFill>
                        </a:rPr>
                        <a:t>Índia (Barragens)</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030A18"/>
                          </a:solidFill>
                        </a:rPr>
                        <a:t>RDD com topografia</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030A18"/>
                          </a:solidFill>
                        </a:rPr>
                        <a:t>Barragens beneficiam regiões a jusante; upstream não melhora produção</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tcPr>
                </a:tc>
              </a:tr>
              <a:tr h="391886">
                <a:tc>
                  <a:txBody>
                    <a:bodyPr/>
                    <a:lstStyle/>
                    <a:p>
                      <a:pPr marL="0" indent="0">
                        <a:buNone/>
                      </a:pPr>
                      <a:r>
                        <a:rPr lang="en-US" sz="800" dirty="0">
                          <a:solidFill>
                            <a:srgbClr val="030A18"/>
                          </a:solidFill>
                        </a:rPr>
                        <a:t>Dell (2015)</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solidFill>
                      <a:srgbClr val="F4F6FA"/>
                    </a:solidFill>
                  </a:tcPr>
                </a:tc>
                <a:tc>
                  <a:txBody>
                    <a:bodyPr/>
                    <a:lstStyle/>
                    <a:p>
                      <a:pPr marL="0" indent="0">
                        <a:buNone/>
                      </a:pPr>
                      <a:r>
                        <a:rPr lang="en-US" sz="800" dirty="0">
                          <a:solidFill>
                            <a:srgbClr val="030A18"/>
                          </a:solidFill>
                        </a:rPr>
                        <a:t>México (Drogas)</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solidFill>
                      <a:srgbClr val="F4F6FA"/>
                    </a:solidFill>
                  </a:tcPr>
                </a:tc>
                <a:tc>
                  <a:txBody>
                    <a:bodyPr/>
                    <a:lstStyle/>
                    <a:p>
                      <a:pPr marL="0" indent="0">
                        <a:buNone/>
                      </a:pPr>
                      <a:r>
                        <a:rPr lang="en-US" sz="800" dirty="0">
                          <a:solidFill>
                            <a:srgbClr val="030A18"/>
                          </a:solidFill>
                        </a:rPr>
                        <a:t>Análise de rede</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solidFill>
                      <a:srgbClr val="F4F6FA"/>
                    </a:solidFill>
                  </a:tcPr>
                </a:tc>
                <a:tc>
                  <a:txBody>
                    <a:bodyPr/>
                    <a:lstStyle/>
                    <a:p>
                      <a:pPr marL="0" indent="0">
                        <a:buNone/>
                      </a:pPr>
                      <a:r>
                        <a:rPr lang="en-US" sz="800" dirty="0">
                          <a:solidFill>
                            <a:srgbClr val="030A18"/>
                          </a:solidFill>
                        </a:rPr>
                        <a:t>Repressão desloca rotas e aumenta violência em corredores alternativos</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solidFill>
                      <a:srgbClr val="F4F6FA"/>
                    </a:solidFill>
                  </a:tcPr>
                </a:tc>
              </a:tr>
              <a:tr h="391886">
                <a:tc>
                  <a:txBody>
                    <a:bodyPr/>
                    <a:lstStyle/>
                    <a:p>
                      <a:pPr marL="0" indent="0">
                        <a:buNone/>
                      </a:pPr>
                      <a:r>
                        <a:rPr lang="en-US" sz="800" dirty="0">
                          <a:solidFill>
                            <a:srgbClr val="030A18"/>
                          </a:solidFill>
                        </a:rPr>
                        <a:t>Michalopoulos &amp; Papaioannou (2016)</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030A18"/>
                          </a:solidFill>
                        </a:rPr>
                        <a:t>África (Fronteiras)</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030A18"/>
                          </a:solidFill>
                        </a:rPr>
                        <a:t>Painel histórico e GIS</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030A18"/>
                          </a:solidFill>
                        </a:rPr>
                        <a:t>Grupos divididos por fronteiras coloniais sofrem mais violência</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tcPr>
                </a:tc>
              </a:tr>
              <a:tr h="391886">
                <a:tc>
                  <a:txBody>
                    <a:bodyPr/>
                    <a:lstStyle/>
                    <a:p>
                      <a:pPr marL="0" indent="0">
                        <a:buNone/>
                      </a:pPr>
                      <a:r>
                        <a:rPr lang="en-US" sz="800" dirty="0">
                          <a:solidFill>
                            <a:srgbClr val="030A18"/>
                          </a:solidFill>
                        </a:rPr>
                        <a:t>Hidalgo et al. (2010)</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solidFill>
                      <a:srgbClr val="F4F6FA"/>
                    </a:solidFill>
                  </a:tcPr>
                </a:tc>
                <a:tc>
                  <a:txBody>
                    <a:bodyPr/>
                    <a:lstStyle/>
                    <a:p>
                      <a:pPr marL="0" indent="0">
                        <a:buNone/>
                      </a:pPr>
                      <a:r>
                        <a:rPr lang="en-US" sz="800" dirty="0">
                          <a:solidFill>
                            <a:srgbClr val="030A18"/>
                          </a:solidFill>
                        </a:rPr>
                        <a:t>Brasil (Terra)</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solidFill>
                      <a:srgbClr val="F4F6FA"/>
                    </a:solidFill>
                  </a:tcPr>
                </a:tc>
                <a:tc>
                  <a:txBody>
                    <a:bodyPr/>
                    <a:lstStyle/>
                    <a:p>
                      <a:pPr marL="0" indent="0">
                        <a:buNone/>
                      </a:pPr>
                      <a:r>
                        <a:rPr lang="en-US" sz="800" dirty="0">
                          <a:solidFill>
                            <a:srgbClr val="030A18"/>
                          </a:solidFill>
                        </a:rPr>
                        <a:t>Painel municipal</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solidFill>
                      <a:srgbClr val="F4F6FA"/>
                    </a:solidFill>
                  </a:tcPr>
                </a:tc>
                <a:tc>
                  <a:txBody>
                    <a:bodyPr/>
                    <a:lstStyle/>
                    <a:p>
                      <a:pPr marL="0" indent="0">
                        <a:buNone/>
                      </a:pPr>
                      <a:r>
                        <a:rPr lang="en-US" sz="800" dirty="0">
                          <a:solidFill>
                            <a:srgbClr val="030A18"/>
                          </a:solidFill>
                        </a:rPr>
                        <a:t>Choques de renda aumentam invasões de terra</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solidFill>
                      <a:srgbClr val="F4F6FA"/>
                    </a:solidFill>
                  </a:tcPr>
                </a:tc>
              </a:tr>
              <a:tr h="391886">
                <a:tc>
                  <a:txBody>
                    <a:bodyPr/>
                    <a:lstStyle/>
                    <a:p>
                      <a:pPr marL="0" indent="0">
                        <a:buNone/>
                      </a:pPr>
                      <a:r>
                        <a:rPr lang="en-US" sz="800" dirty="0">
                          <a:solidFill>
                            <a:srgbClr val="030A18"/>
                          </a:solidFill>
                        </a:rPr>
                        <a:t>Ingram &amp; Marchesini (2019)</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030A18"/>
                          </a:solidFill>
                        </a:rPr>
                        <a:t>Brasil (Homicídios)</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030A18"/>
                          </a:solidFill>
                        </a:rPr>
                        <a:t>GWR</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tcPr>
                </a:tc>
                <a:tc>
                  <a:txBody>
                    <a:bodyPr/>
                    <a:lstStyle/>
                    <a:p>
                      <a:pPr marL="0" indent="0">
                        <a:buNone/>
                      </a:pPr>
                      <a:r>
                        <a:rPr lang="en-US" sz="800" dirty="0">
                          <a:solidFill>
                            <a:srgbClr val="030A18"/>
                          </a:solidFill>
                        </a:rPr>
                        <a:t>Impacto político varia por localização</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tcPr>
                </a:tc>
              </a:tr>
              <a:tr h="391886">
                <a:tc>
                  <a:txBody>
                    <a:bodyPr/>
                    <a:lstStyle/>
                    <a:p>
                      <a:pPr marL="0" indent="0">
                        <a:buNone/>
                      </a:pPr>
                      <a:r>
                        <a:rPr lang="en-US" sz="800" dirty="0">
                          <a:solidFill>
                            <a:srgbClr val="030A18"/>
                          </a:solidFill>
                        </a:rPr>
                        <a:t>Burgess et al. (2015)</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solidFill>
                      <a:srgbClr val="F4F6FA"/>
                    </a:solidFill>
                  </a:tcPr>
                </a:tc>
                <a:tc>
                  <a:txBody>
                    <a:bodyPr/>
                    <a:lstStyle/>
                    <a:p>
                      <a:pPr marL="0" indent="0">
                        <a:buNone/>
                      </a:pPr>
                      <a:r>
                        <a:rPr lang="en-US" sz="800" dirty="0">
                          <a:solidFill>
                            <a:srgbClr val="030A18"/>
                          </a:solidFill>
                        </a:rPr>
                        <a:t>Quênia (Estradas)</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solidFill>
                      <a:srgbClr val="F4F6FA"/>
                    </a:solidFill>
                  </a:tcPr>
                </a:tc>
                <a:tc>
                  <a:txBody>
                    <a:bodyPr/>
                    <a:lstStyle/>
                    <a:p>
                      <a:pPr marL="0" indent="0">
                        <a:buNone/>
                      </a:pPr>
                      <a:r>
                        <a:rPr lang="en-US" sz="800" dirty="0">
                          <a:solidFill>
                            <a:srgbClr val="030A18"/>
                          </a:solidFill>
                        </a:rPr>
                        <a:t>Painel histórico</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solidFill>
                      <a:srgbClr val="F4F6FA"/>
                    </a:solidFill>
                  </a:tcPr>
                </a:tc>
                <a:tc>
                  <a:txBody>
                    <a:bodyPr/>
                    <a:lstStyle/>
                    <a:p>
                      <a:pPr marL="0" indent="0">
                        <a:buNone/>
                      </a:pPr>
                      <a:r>
                        <a:rPr lang="en-US" sz="800" dirty="0">
                          <a:solidFill>
                            <a:srgbClr val="030A18"/>
                          </a:solidFill>
                        </a:rPr>
                        <a:t>Democracia elimina favoritismo étnico na alocação de estradas</a:t>
                      </a:r>
                      <a:endParaRPr lang="en-US" sz="800" dirty="0"/>
                    </a:p>
                  </a:txBody>
                  <a:tcPr anchor="ctr">
                    <a:lnL w="3175" cap="flat" cmpd="sng" algn="ctr">
                      <a:solidFill>
                        <a:srgbClr val="DDDDDD"/>
                      </a:solidFill>
                      <a:prstDash val="solid"/>
                      <a:round/>
                      <a:headEnd type="none" w="med" len="med"/>
                      <a:tailEnd type="none" w="med" len="med"/>
                    </a:lnL>
                    <a:lnR w="3175" cap="flat" cmpd="sng" algn="ctr">
                      <a:solidFill>
                        <a:srgbClr val="DDDDDD"/>
                      </a:solidFill>
                      <a:prstDash val="solid"/>
                      <a:round/>
                      <a:headEnd type="none" w="med" len="med"/>
                      <a:tailEnd type="none" w="med" len="med"/>
                    </a:lnR>
                    <a:lnT w="3175" cap="flat" cmpd="sng" algn="ctr">
                      <a:solidFill>
                        <a:srgbClr val="DDDDDD"/>
                      </a:solidFill>
                      <a:prstDash val="solid"/>
                      <a:round/>
                      <a:headEnd type="none" w="med" len="med"/>
                      <a:tailEnd type="none" w="med" len="med"/>
                    </a:lnT>
                    <a:lnB w="3175" cap="flat" cmpd="sng" algn="ctr">
                      <a:solidFill>
                        <a:srgbClr val="DDDDDD"/>
                      </a:solidFill>
                      <a:prstDash val="solid"/>
                      <a:round/>
                      <a:headEnd type="none" w="med" len="med"/>
                      <a:tailEnd type="none" w="med" len="med"/>
                    </a:lnB>
                    <a:solidFill>
                      <a:srgbClr val="F4F6FA"/>
                    </a:solidFill>
                  </a:tcPr>
                </a:tc>
              </a:tr>
            </a:tbl>
          </a:graphicData>
        </a:graphic>
      </p:graphicFrame>
      <p:sp>
        <p:nvSpPr>
          <p:cNvPr id="4" name="Text 1"/>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3">
                  <a:extLst>
                    <a:ext uri="{A12FA001-AC4F-418D-AE19-62706E023703}">
                      <ahyp:hlinkClr xmlns:ahyp="http://schemas.microsoft.com/office/drawing/2018/hyperlinkcolor" xmlns="" val="tx"/>
                    </a:ext>
                  </a:extLst>
                </a:hlinkClick>
              </a:rPr>
              <a:t>[12]</a:t>
            </a:r>
            <a:r>
              <a:rPr lang="en-US" sz="600" u="sng" dirty="0">
                <a:solidFill>
                  <a:srgbClr val="0070C0"/>
                </a:solidFill>
                <a:hlinkClick r:id="rId4">
                  <a:extLst>
                    <a:ext uri="{A12FA001-AC4F-418D-AE19-62706E023703}">
                      <ahyp:hlinkClr xmlns:ahyp="http://schemas.microsoft.com/office/drawing/2018/hyperlinkcolor" xmlns="" val="tx"/>
                    </a:ext>
                  </a:extLst>
                </a:hlinkClick>
              </a:rPr>
              <a:t>[13]</a:t>
            </a:r>
            <a:r>
              <a:rPr lang="en-US" sz="600" u="sng" dirty="0">
                <a:solidFill>
                  <a:srgbClr val="0070C0"/>
                </a:solidFill>
                <a:hlinkClick r:id="rId5">
                  <a:extLst>
                    <a:ext uri="{A12FA001-AC4F-418D-AE19-62706E023703}">
                      <ahyp:hlinkClr xmlns:ahyp="http://schemas.microsoft.com/office/drawing/2018/hyperlinkcolor" xmlns="" val="tx"/>
                    </a:ext>
                  </a:extLst>
                </a:hlinkClick>
              </a:rPr>
              <a:t>[14]</a:t>
            </a:r>
            <a:r>
              <a:rPr lang="en-US" sz="600" u="sng" dirty="0">
                <a:solidFill>
                  <a:srgbClr val="0070C0"/>
                </a:solidFill>
                <a:hlinkClick r:id="rId6">
                  <a:extLst>
                    <a:ext uri="{A12FA001-AC4F-418D-AE19-62706E023703}">
                      <ahyp:hlinkClr xmlns:ahyp="http://schemas.microsoft.com/office/drawing/2018/hyperlinkcolor" xmlns="" val="tx"/>
                    </a:ext>
                  </a:extLst>
                </a:hlinkClick>
              </a:rPr>
              <a:t>[15]</a:t>
            </a:r>
            <a:r>
              <a:rPr lang="en-US" sz="600" u="sng" dirty="0">
                <a:solidFill>
                  <a:srgbClr val="0070C0"/>
                </a:solidFill>
                <a:hlinkClick r:id="rId7">
                  <a:extLst>
                    <a:ext uri="{A12FA001-AC4F-418D-AE19-62706E023703}">
                      <ahyp:hlinkClr xmlns:ahyp="http://schemas.microsoft.com/office/drawing/2018/hyperlinkcolor" xmlns="" val="tx"/>
                    </a:ext>
                  </a:extLst>
                </a:hlinkClick>
              </a:rPr>
              <a:t>[16]</a:t>
            </a:r>
            <a:r>
              <a:rPr lang="en-US" sz="600" u="sng" dirty="0">
                <a:solidFill>
                  <a:srgbClr val="0070C0"/>
                </a:solidFill>
                <a:hlinkClick r:id="rId8">
                  <a:extLst>
                    <a:ext uri="{A12FA001-AC4F-418D-AE19-62706E023703}">
                      <ahyp:hlinkClr xmlns:ahyp="http://schemas.microsoft.com/office/drawing/2018/hyperlinkcolor" xmlns="" val="tx"/>
                    </a:ext>
                  </a:extLst>
                </a:hlinkClick>
              </a:rPr>
              <a:t>[17]</a:t>
            </a:r>
            <a:endParaRPr lang="en-US" sz="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Duflo &amp; Pande (2007) – Barragens</a:t>
            </a:r>
            <a:endParaRPr lang="en-US" sz="2400" dirty="0"/>
          </a:p>
        </p:txBody>
      </p:sp>
      <p:pic>
        <p:nvPicPr>
          <p:cNvPr id="3" name="Image 0" descr="preencoded.png"/>
          <p:cNvPicPr>
            <a:picLocks noChangeAspect="1"/>
          </p:cNvPicPr>
          <p:nvPr/>
        </p:nvPicPr>
        <p:blipFill>
          <a:blip r:embed="rId3"/>
          <a:stretch>
            <a:fillRect/>
          </a:stretch>
        </p:blipFill>
        <p:spPr>
          <a:xfrm>
            <a:off x="457200" y="1097280"/>
            <a:ext cx="457200" cy="457200"/>
          </a:xfrm>
          <a:prstGeom prst="rect">
            <a:avLst/>
          </a:prstGeom>
        </p:spPr>
      </p:pic>
      <p:sp>
        <p:nvSpPr>
          <p:cNvPr id="4" name="Text 1"/>
          <p:cNvSpPr/>
          <p:nvPr/>
        </p:nvSpPr>
        <p:spPr>
          <a:xfrm>
            <a:off x="1097280" y="1005840"/>
            <a:ext cx="7589520" cy="2926080"/>
          </a:xfrm>
          <a:prstGeom prst="rect">
            <a:avLst/>
          </a:prstGeom>
          <a:noFill/>
          <a:ln/>
        </p:spPr>
        <p:txBody>
          <a:bodyPr wrap="square" rtlCol="0" anchor="ctr"/>
          <a:lstStyle/>
          <a:p>
            <a:pPr marL="0" indent="0">
              <a:buNone/>
            </a:pPr>
            <a:r>
              <a:rPr lang="en-US" sz="1200" dirty="0">
                <a:solidFill>
                  <a:srgbClr val="030A18"/>
                </a:solidFill>
              </a:rPr>
              <a:t>• Estudo na Índia avalia impacto de grandes barragens
• Utiliza declividade dos rios como fonte de variação exógena
• Efeitos distributivos: upstream não aumenta produção; downstream beneficia-se de irrigação e redução da pobreza</a:t>
            </a:r>
            <a:endParaRPr lang="en-US" sz="1200" dirty="0"/>
          </a:p>
        </p:txBody>
      </p:sp>
      <p:sp>
        <p:nvSpPr>
          <p:cNvPr id="5"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4">
                  <a:extLst>
                    <a:ext uri="{A12FA001-AC4F-418D-AE19-62706E023703}">
                      <ahyp:hlinkClr xmlns:ahyp="http://schemas.microsoft.com/office/drawing/2018/hyperlinkcolor" xmlns="" val="tx"/>
                    </a:ext>
                  </a:extLst>
                </a:hlinkClick>
              </a:rPr>
              <a:t>[18]</a:t>
            </a:r>
            <a:endParaRPr lang="en-US" sz="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Dell (2015) – Redes e Guerra às Drogas</a:t>
            </a:r>
            <a:endParaRPr lang="en-US" sz="2400" dirty="0"/>
          </a:p>
        </p:txBody>
      </p:sp>
      <p:pic>
        <p:nvPicPr>
          <p:cNvPr id="3" name="Image 0" descr="preencoded.png"/>
          <p:cNvPicPr>
            <a:picLocks noChangeAspect="1"/>
          </p:cNvPicPr>
          <p:nvPr/>
        </p:nvPicPr>
        <p:blipFill>
          <a:blip r:embed="rId3"/>
          <a:stretch>
            <a:fillRect/>
          </a:stretch>
        </p:blipFill>
        <p:spPr>
          <a:xfrm>
            <a:off x="457200" y="1097280"/>
            <a:ext cx="457200" cy="457200"/>
          </a:xfrm>
          <a:prstGeom prst="rect">
            <a:avLst/>
          </a:prstGeom>
        </p:spPr>
      </p:pic>
      <p:sp>
        <p:nvSpPr>
          <p:cNvPr id="4" name="Text 1"/>
          <p:cNvSpPr/>
          <p:nvPr/>
        </p:nvSpPr>
        <p:spPr>
          <a:xfrm>
            <a:off x="1097280" y="1005840"/>
            <a:ext cx="7589520" cy="2926080"/>
          </a:xfrm>
          <a:prstGeom prst="rect">
            <a:avLst/>
          </a:prstGeom>
          <a:noFill/>
          <a:ln/>
        </p:spPr>
        <p:txBody>
          <a:bodyPr wrap="square" rtlCol="0" anchor="ctr"/>
          <a:lstStyle/>
          <a:p>
            <a:pPr marL="0" indent="0">
              <a:buNone/>
            </a:pPr>
            <a:r>
              <a:rPr lang="en-US" sz="1200" dirty="0">
                <a:solidFill>
                  <a:srgbClr val="030A18"/>
                </a:solidFill>
              </a:rPr>
              <a:t>• Modelo de rede traça rotas de tráfico no México
• Vitórias apertadas do PAN intensificam repressão e deslocam rotas• Violência aumenta em corredores alternativos em resposta às políticas</a:t>
            </a:r>
            <a:endParaRPr lang="en-US" sz="1200" dirty="0"/>
          </a:p>
        </p:txBody>
      </p:sp>
      <p:sp>
        <p:nvSpPr>
          <p:cNvPr id="5"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4">
                  <a:extLst>
                    <a:ext uri="{A12FA001-AC4F-418D-AE19-62706E023703}">
                      <ahyp:hlinkClr xmlns:ahyp="http://schemas.microsoft.com/office/drawing/2018/hyperlinkcolor" xmlns="" val="tx"/>
                    </a:ext>
                  </a:extLst>
                </a:hlinkClick>
              </a:rPr>
              <a:t>[19]</a:t>
            </a:r>
            <a:endParaRPr lang="en-US" sz="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Michalopoulos &amp; Papaioannou (2016) – Fronteiras</a:t>
            </a:r>
            <a:endParaRPr lang="en-US" sz="2400" dirty="0"/>
          </a:p>
        </p:txBody>
      </p:sp>
      <p:pic>
        <p:nvPicPr>
          <p:cNvPr id="3" name="Image 0" descr="preencoded.png"/>
          <p:cNvPicPr>
            <a:picLocks noChangeAspect="1"/>
          </p:cNvPicPr>
          <p:nvPr/>
        </p:nvPicPr>
        <p:blipFill>
          <a:blip r:embed="rId3"/>
          <a:stretch>
            <a:fillRect/>
          </a:stretch>
        </p:blipFill>
        <p:spPr>
          <a:xfrm>
            <a:off x="457200" y="1097280"/>
            <a:ext cx="457200" cy="457200"/>
          </a:xfrm>
          <a:prstGeom prst="rect">
            <a:avLst/>
          </a:prstGeom>
        </p:spPr>
      </p:pic>
      <p:sp>
        <p:nvSpPr>
          <p:cNvPr id="4" name="Text 1"/>
          <p:cNvSpPr/>
          <p:nvPr/>
        </p:nvSpPr>
        <p:spPr>
          <a:xfrm>
            <a:off x="1097280" y="1005840"/>
            <a:ext cx="7589520" cy="2926080"/>
          </a:xfrm>
          <a:prstGeom prst="rect">
            <a:avLst/>
          </a:prstGeom>
          <a:noFill/>
          <a:ln/>
        </p:spPr>
        <p:txBody>
          <a:bodyPr wrap="square" rtlCol="0" anchor="ctr"/>
          <a:lstStyle/>
          <a:p>
            <a:pPr marL="0" indent="0">
              <a:buNone/>
            </a:pPr>
            <a:r>
              <a:rPr lang="en-US" sz="1200" dirty="0">
                <a:solidFill>
                  <a:srgbClr val="030A18"/>
                </a:solidFill>
              </a:rPr>
              <a:t>• Combina mapas históricos de fronteiras e territórios étnicos na África
• Grupos divididos apresentam maior incidência e duração de conflitos• Evidencia efeitos de longo prazo do colonialismo nas desigualdades</a:t>
            </a:r>
            <a:endParaRPr lang="en-US" sz="1200" dirty="0"/>
          </a:p>
        </p:txBody>
      </p:sp>
      <p:sp>
        <p:nvSpPr>
          <p:cNvPr id="5"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4">
                  <a:extLst>
                    <a:ext uri="{A12FA001-AC4F-418D-AE19-62706E023703}">
                      <ahyp:hlinkClr xmlns:ahyp="http://schemas.microsoft.com/office/drawing/2018/hyperlinkcolor" xmlns="" val="tx"/>
                    </a:ext>
                  </a:extLst>
                </a:hlinkClick>
              </a:rPr>
              <a:t>[20]</a:t>
            </a:r>
            <a:endParaRPr lang="en-US" sz="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Hidalgo et al. (2010) &amp; Ingram &amp; Marchesini (2019)</a:t>
            </a:r>
            <a:endParaRPr lang="en-US" sz="2400" dirty="0"/>
          </a:p>
        </p:txBody>
      </p:sp>
      <p:sp>
        <p:nvSpPr>
          <p:cNvPr id="3" name="Text 1"/>
          <p:cNvSpPr/>
          <p:nvPr/>
        </p:nvSpPr>
        <p:spPr>
          <a:xfrm>
            <a:off x="457200" y="1097280"/>
            <a:ext cx="4297680" cy="2743200"/>
          </a:xfrm>
          <a:prstGeom prst="rect">
            <a:avLst/>
          </a:prstGeom>
          <a:noFill/>
          <a:ln/>
        </p:spPr>
        <p:txBody>
          <a:bodyPr wrap="square" rtlCol="0" anchor="ctr"/>
          <a:lstStyle/>
          <a:p>
            <a:pPr marL="0" indent="0">
              <a:buNone/>
            </a:pPr>
            <a:r>
              <a:rPr lang="en-US" sz="1600" b="1" dirty="0">
                <a:solidFill>
                  <a:srgbClr val="030A18"/>
                </a:solidFill>
              </a:rPr>
              <a:t>Choques e Conflitos (Hidalgo et al.)
</a:t>
            </a:r>
            <a:r>
              <a:rPr lang="en-US" sz="1200" dirty="0">
                <a:solidFill>
                  <a:srgbClr val="030A18"/>
                </a:solidFill>
              </a:rPr>
              <a:t>• Painel municipal no Brasil
• Choques de chuva servem como variação exógena
• Invasões de terra aumentam quando renda cai</a:t>
            </a:r>
            <a:endParaRPr lang="en-US" sz="1600" dirty="0"/>
          </a:p>
        </p:txBody>
      </p:sp>
      <p:sp>
        <p:nvSpPr>
          <p:cNvPr id="4" name="Text 2"/>
          <p:cNvSpPr/>
          <p:nvPr/>
        </p:nvSpPr>
        <p:spPr>
          <a:xfrm>
            <a:off x="4754880" y="1097280"/>
            <a:ext cx="3931920" cy="2743200"/>
          </a:xfrm>
          <a:prstGeom prst="rect">
            <a:avLst/>
          </a:prstGeom>
          <a:noFill/>
          <a:ln/>
        </p:spPr>
        <p:txBody>
          <a:bodyPr wrap="square" rtlCol="0" anchor="ctr"/>
          <a:lstStyle/>
          <a:p>
            <a:pPr marL="0" indent="0">
              <a:buNone/>
            </a:pPr>
            <a:r>
              <a:rPr lang="en-US" sz="1600" b="1" dirty="0">
                <a:solidFill>
                  <a:srgbClr val="030A18"/>
                </a:solidFill>
              </a:rPr>
              <a:t>Violência e Política (Ingram &amp; Marchesini)
</a:t>
            </a:r>
            <a:r>
              <a:rPr lang="en-US" sz="1200" dirty="0">
                <a:solidFill>
                  <a:srgbClr val="030A18"/>
                </a:solidFill>
              </a:rPr>
              <a:t>• GWR sobre 5.562 municípios brasileiros
• Efeitos políticos variam conforme localização
• Ênfase em heterogeneidade espacial</a:t>
            </a:r>
            <a:endParaRPr lang="en-US" sz="1600" dirty="0"/>
          </a:p>
        </p:txBody>
      </p:sp>
      <p:sp>
        <p:nvSpPr>
          <p:cNvPr id="5" name="Text 3"/>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3">
                  <a:extLst>
                    <a:ext uri="{A12FA001-AC4F-418D-AE19-62706E023703}">
                      <ahyp:hlinkClr xmlns:ahyp="http://schemas.microsoft.com/office/drawing/2018/hyperlinkcolor" xmlns="" val="tx"/>
                    </a:ext>
                  </a:extLst>
                </a:hlinkClick>
              </a:rPr>
              <a:t>[21]</a:t>
            </a:r>
            <a:r>
              <a:rPr lang="en-US" sz="600" u="sng" dirty="0">
                <a:solidFill>
                  <a:srgbClr val="0070C0"/>
                </a:solidFill>
                <a:hlinkClick r:id="rId4">
                  <a:extLst>
                    <a:ext uri="{A12FA001-AC4F-418D-AE19-62706E023703}">
                      <ahyp:hlinkClr xmlns:ahyp="http://schemas.microsoft.com/office/drawing/2018/hyperlinkcolor" xmlns="" val="tx"/>
                    </a:ext>
                  </a:extLst>
                </a:hlinkClick>
              </a:rPr>
              <a:t>[22]</a:t>
            </a:r>
            <a:endParaRPr lang="en-US" sz="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Burgess et al. (2015) – Valor da Democracia</a:t>
            </a:r>
            <a:endParaRPr lang="en-US" sz="2400" dirty="0"/>
          </a:p>
        </p:txBody>
      </p:sp>
      <p:pic>
        <p:nvPicPr>
          <p:cNvPr id="3" name="Image 0" descr="preencoded.png"/>
          <p:cNvPicPr>
            <a:picLocks noChangeAspect="1"/>
          </p:cNvPicPr>
          <p:nvPr/>
        </p:nvPicPr>
        <p:blipFill>
          <a:blip r:embed="rId3"/>
          <a:stretch>
            <a:fillRect/>
          </a:stretch>
        </p:blipFill>
        <p:spPr>
          <a:xfrm>
            <a:off x="457200" y="1097280"/>
            <a:ext cx="457200" cy="457200"/>
          </a:xfrm>
          <a:prstGeom prst="rect">
            <a:avLst/>
          </a:prstGeom>
        </p:spPr>
      </p:pic>
      <p:sp>
        <p:nvSpPr>
          <p:cNvPr id="4" name="Text 1"/>
          <p:cNvSpPr/>
          <p:nvPr/>
        </p:nvSpPr>
        <p:spPr>
          <a:xfrm>
            <a:off x="1097280" y="1005840"/>
            <a:ext cx="7589520" cy="2926080"/>
          </a:xfrm>
          <a:prstGeom prst="rect">
            <a:avLst/>
          </a:prstGeom>
          <a:noFill/>
          <a:ln/>
        </p:spPr>
        <p:txBody>
          <a:bodyPr wrap="square" rtlCol="0" anchor="ctr"/>
          <a:lstStyle/>
          <a:p>
            <a:pPr marL="0" indent="0">
              <a:buNone/>
            </a:pPr>
            <a:r>
              <a:rPr lang="en-US" sz="1200" dirty="0">
                <a:solidFill>
                  <a:srgbClr val="030A18"/>
                </a:solidFill>
              </a:rPr>
              <a:t>• Painel de estradas no Quênia ao longo de diferentes regimes
• Sob autocracia: distritos coétnicos recebem 3× mais gastos e 5× mais pavimentação
• Democracia elimina favoritismo e equaliza investimentos</a:t>
            </a:r>
            <a:endParaRPr lang="en-US" sz="1200" dirty="0"/>
          </a:p>
        </p:txBody>
      </p:sp>
      <p:sp>
        <p:nvSpPr>
          <p:cNvPr id="5"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4">
                  <a:extLst>
                    <a:ext uri="{A12FA001-AC4F-418D-AE19-62706E023703}">
                      <ahyp:hlinkClr xmlns:ahyp="http://schemas.microsoft.com/office/drawing/2018/hyperlinkcolor" xmlns="" val="tx"/>
                    </a:ext>
                  </a:extLst>
                </a:hlinkClick>
              </a:rPr>
              <a:t>[23]</a:t>
            </a:r>
            <a:endParaRPr lang="en-US" sz="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Aplicações no Brasil e América Latina</a:t>
            </a:r>
            <a:endParaRPr lang="en-US" sz="2400" dirty="0"/>
          </a:p>
        </p:txBody>
      </p:sp>
      <p:pic>
        <p:nvPicPr>
          <p:cNvPr id="3" name="Image 0" descr="preencoded.png"/>
          <p:cNvPicPr>
            <a:picLocks noChangeAspect="1"/>
          </p:cNvPicPr>
          <p:nvPr/>
        </p:nvPicPr>
        <p:blipFill>
          <a:blip r:embed="rId3"/>
          <a:stretch>
            <a:fillRect/>
          </a:stretch>
        </p:blipFill>
        <p:spPr>
          <a:xfrm>
            <a:off x="457200" y="1097280"/>
            <a:ext cx="457200" cy="457200"/>
          </a:xfrm>
          <a:prstGeom prst="rect">
            <a:avLst/>
          </a:prstGeom>
        </p:spPr>
      </p:pic>
      <p:sp>
        <p:nvSpPr>
          <p:cNvPr id="4" name="Text 1"/>
          <p:cNvSpPr/>
          <p:nvPr/>
        </p:nvSpPr>
        <p:spPr>
          <a:xfrm>
            <a:off x="1097280" y="1005840"/>
            <a:ext cx="7589520" cy="2926080"/>
          </a:xfrm>
          <a:prstGeom prst="rect">
            <a:avLst/>
          </a:prstGeom>
          <a:noFill/>
          <a:ln/>
        </p:spPr>
        <p:txBody>
          <a:bodyPr wrap="square" rtlCol="0" anchor="ctr"/>
          <a:lstStyle/>
          <a:p>
            <a:pPr marL="0" indent="0">
              <a:buNone/>
            </a:pPr>
            <a:r>
              <a:rPr lang="en-US" sz="1200" dirty="0">
                <a:solidFill>
                  <a:srgbClr val="030A18"/>
                </a:solidFill>
              </a:rPr>
              <a:t>• Uso crescente de SIG para entender desigualdades regionais
• Integração de dados administrativos e geoespaciais (censos, MapBiomas, SNIS)
• Desafios comuns: capacidade técnica municipal, interoperabilidade e atualidade de dados</a:t>
            </a:r>
            <a:endParaRPr lang="en-US" sz="1200" dirty="0"/>
          </a:p>
        </p:txBody>
      </p:sp>
      <p:pic>
        <p:nvPicPr>
          <p:cNvPr id="5" name="Image 1" descr="preencoded.png"/>
          <p:cNvPicPr>
            <a:picLocks noChangeAspect="1"/>
          </p:cNvPicPr>
          <p:nvPr/>
        </p:nvPicPr>
        <p:blipFill>
          <a:blip r:embed="rId4"/>
          <a:stretch>
            <a:fillRect/>
          </a:stretch>
        </p:blipFill>
        <p:spPr>
          <a:xfrm>
            <a:off x="6400800" y="3200400"/>
            <a:ext cx="2286000" cy="1645920"/>
          </a:xfrm>
          <a:prstGeom prst="rect">
            <a:avLst/>
          </a:prstGeom>
        </p:spPr>
      </p:pic>
      <p:sp>
        <p:nvSpPr>
          <p:cNvPr id="6"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5">
                  <a:extLst>
                    <a:ext uri="{A12FA001-AC4F-418D-AE19-62706E023703}">
                      <ahyp:hlinkClr xmlns:ahyp="http://schemas.microsoft.com/office/drawing/2018/hyperlinkcolor" xmlns="" val="tx"/>
                    </a:ext>
                  </a:extLst>
                </a:hlinkClick>
              </a:rPr>
              <a:t>[24]</a:t>
            </a:r>
            <a:endParaRPr lang="en-US" sz="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Estudo de Caso: Acesso à Educação no RJ</a:t>
            </a:r>
            <a:endParaRPr lang="en-US" sz="2400" dirty="0"/>
          </a:p>
        </p:txBody>
      </p:sp>
      <p:pic>
        <p:nvPicPr>
          <p:cNvPr id="3" name="Image 0" descr="preencoded.png"/>
          <p:cNvPicPr>
            <a:picLocks noChangeAspect="1"/>
          </p:cNvPicPr>
          <p:nvPr/>
        </p:nvPicPr>
        <p:blipFill>
          <a:blip r:embed="rId3"/>
          <a:stretch>
            <a:fillRect/>
          </a:stretch>
        </p:blipFill>
        <p:spPr>
          <a:xfrm>
            <a:off x="457200" y="1097280"/>
            <a:ext cx="3657600" cy="2194560"/>
          </a:xfrm>
          <a:prstGeom prst="rect">
            <a:avLst/>
          </a:prstGeom>
        </p:spPr>
      </p:pic>
      <p:sp>
        <p:nvSpPr>
          <p:cNvPr id="4" name="Text 1"/>
          <p:cNvSpPr/>
          <p:nvPr/>
        </p:nvSpPr>
        <p:spPr>
          <a:xfrm>
            <a:off x="4572000" y="1097280"/>
            <a:ext cx="4297680" cy="2194560"/>
          </a:xfrm>
          <a:prstGeom prst="rect">
            <a:avLst/>
          </a:prstGeom>
          <a:noFill/>
          <a:ln/>
        </p:spPr>
        <p:txBody>
          <a:bodyPr wrap="square" rtlCol="0" anchor="ctr"/>
          <a:lstStyle/>
          <a:p>
            <a:pPr marL="0" indent="0">
              <a:buNone/>
            </a:pPr>
            <a:r>
              <a:rPr lang="en-US" sz="1600" b="1" dirty="0">
                <a:solidFill>
                  <a:srgbClr val="030A18"/>
                </a:solidFill>
              </a:rPr>
              <a:t>Contexto
</a:t>
            </a:r>
            <a:r>
              <a:rPr lang="en-US" sz="1200" dirty="0">
                <a:solidFill>
                  <a:srgbClr val="030A18"/>
                </a:solidFill>
              </a:rPr>
              <a:t>• Violência urbana ameaça estudantes e limita trajetos escolares
• Desigualdade territorial no acesso à educação de qualidade
• Objetivo: quantificar como o crime impõe custos de deslocamento</a:t>
            </a:r>
            <a:endParaRPr lang="en-US" sz="1600" dirty="0"/>
          </a:p>
        </p:txBody>
      </p:sp>
      <p:sp>
        <p:nvSpPr>
          <p:cNvPr id="5"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4">
                  <a:extLst>
                    <a:ext uri="{A12FA001-AC4F-418D-AE19-62706E023703}">
                      <ahyp:hlinkClr xmlns:ahyp="http://schemas.microsoft.com/office/drawing/2018/hyperlinkcolor" xmlns="" val="tx"/>
                    </a:ext>
                  </a:extLst>
                </a:hlinkClick>
              </a:rPr>
              <a:t>[25]</a:t>
            </a:r>
            <a:endParaRPr lang="en-US" sz="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Metodologia do Caso de Estudo</a:t>
            </a:r>
            <a:endParaRPr lang="en-US" sz="2400" dirty="0"/>
          </a:p>
        </p:txBody>
      </p:sp>
      <p:sp>
        <p:nvSpPr>
          <p:cNvPr id="3" name="Shape 1"/>
          <p:cNvSpPr/>
          <p:nvPr/>
        </p:nvSpPr>
        <p:spPr>
          <a:xfrm>
            <a:off x="457200" y="1920240"/>
            <a:ext cx="2011680" cy="548640"/>
          </a:xfrm>
          <a:prstGeom prst="roundRect">
            <a:avLst>
              <a:gd name="adj" fmla="val 16667"/>
            </a:avLst>
          </a:prstGeom>
          <a:solidFill>
            <a:srgbClr val="E1F5FE"/>
          </a:solidFill>
          <a:ln w="12700">
            <a:solidFill>
              <a:srgbClr val="B0BEC5"/>
            </a:solidFill>
            <a:prstDash val="solid"/>
          </a:ln>
        </p:spPr>
        <p:txBody>
          <a:bodyPr/>
          <a:lstStyle/>
          <a:p>
            <a:endParaRPr/>
          </a:p>
        </p:txBody>
      </p:sp>
      <p:sp>
        <p:nvSpPr>
          <p:cNvPr id="4" name="Text 2"/>
          <p:cNvSpPr/>
          <p:nvPr/>
        </p:nvSpPr>
        <p:spPr>
          <a:xfrm>
            <a:off x="457200" y="1920240"/>
            <a:ext cx="2011680" cy="548640"/>
          </a:xfrm>
          <a:prstGeom prst="rect">
            <a:avLst/>
          </a:prstGeom>
          <a:noFill/>
          <a:ln/>
        </p:spPr>
        <p:txBody>
          <a:bodyPr wrap="square" rtlCol="0" anchor="ctr"/>
          <a:lstStyle/>
          <a:p>
            <a:pPr marL="0" indent="0" algn="ctr">
              <a:buNone/>
            </a:pPr>
            <a:r>
              <a:rPr lang="en-US" sz="800" dirty="0">
                <a:solidFill>
                  <a:srgbClr val="030A18"/>
                </a:solidFill>
              </a:rPr>
              <a:t>Dados de escolas</a:t>
            </a:r>
            <a:endParaRPr lang="en-US" sz="800" dirty="0"/>
          </a:p>
          <a:p>
            <a:pPr marL="0" indent="0" algn="ctr">
              <a:buNone/>
            </a:pPr>
            <a:r>
              <a:rPr lang="en-US" sz="800" dirty="0">
                <a:solidFill>
                  <a:srgbClr val="030A18"/>
                </a:solidFill>
              </a:rPr>
              <a:t>e matrículas</a:t>
            </a:r>
            <a:endParaRPr lang="en-US" sz="800" dirty="0"/>
          </a:p>
        </p:txBody>
      </p:sp>
      <p:sp>
        <p:nvSpPr>
          <p:cNvPr id="5" name="Shape 3"/>
          <p:cNvSpPr/>
          <p:nvPr/>
        </p:nvSpPr>
        <p:spPr>
          <a:xfrm>
            <a:off x="2468880" y="2194560"/>
            <a:ext cx="137160" cy="0"/>
          </a:xfrm>
          <a:prstGeom prst="line">
            <a:avLst/>
          </a:prstGeom>
          <a:noFill/>
          <a:ln w="12700">
            <a:solidFill>
              <a:srgbClr val="90CAF9"/>
            </a:solidFill>
            <a:prstDash val="solid"/>
            <a:tailEnd type="triangle"/>
          </a:ln>
        </p:spPr>
        <p:txBody>
          <a:bodyPr/>
          <a:lstStyle/>
          <a:p>
            <a:endParaRPr/>
          </a:p>
        </p:txBody>
      </p:sp>
      <p:sp>
        <p:nvSpPr>
          <p:cNvPr id="6" name="Shape 4"/>
          <p:cNvSpPr/>
          <p:nvPr/>
        </p:nvSpPr>
        <p:spPr>
          <a:xfrm>
            <a:off x="2606040" y="1920240"/>
            <a:ext cx="2011680" cy="548640"/>
          </a:xfrm>
          <a:prstGeom prst="roundRect">
            <a:avLst>
              <a:gd name="adj" fmla="val 16667"/>
            </a:avLst>
          </a:prstGeom>
          <a:solidFill>
            <a:srgbClr val="E8F5E9"/>
          </a:solidFill>
          <a:ln w="12700">
            <a:solidFill>
              <a:srgbClr val="B0BEC5"/>
            </a:solidFill>
            <a:prstDash val="solid"/>
          </a:ln>
        </p:spPr>
        <p:txBody>
          <a:bodyPr/>
          <a:lstStyle/>
          <a:p>
            <a:endParaRPr/>
          </a:p>
        </p:txBody>
      </p:sp>
      <p:sp>
        <p:nvSpPr>
          <p:cNvPr id="7" name="Text 5"/>
          <p:cNvSpPr/>
          <p:nvPr/>
        </p:nvSpPr>
        <p:spPr>
          <a:xfrm>
            <a:off x="2606040" y="1920240"/>
            <a:ext cx="2011680" cy="548640"/>
          </a:xfrm>
          <a:prstGeom prst="rect">
            <a:avLst/>
          </a:prstGeom>
          <a:noFill/>
          <a:ln/>
        </p:spPr>
        <p:txBody>
          <a:bodyPr wrap="square" rtlCol="0" anchor="ctr"/>
          <a:lstStyle/>
          <a:p>
            <a:pPr marL="0" indent="0" algn="ctr">
              <a:buNone/>
            </a:pPr>
            <a:r>
              <a:rPr lang="en-US" sz="800" dirty="0">
                <a:solidFill>
                  <a:srgbClr val="030A18"/>
                </a:solidFill>
              </a:rPr>
              <a:t>Dados de crime</a:t>
            </a:r>
            <a:endParaRPr lang="en-US" sz="800" dirty="0"/>
          </a:p>
          <a:p>
            <a:pPr marL="0" indent="0" algn="ctr">
              <a:buNone/>
            </a:pPr>
            <a:r>
              <a:rPr lang="en-US" sz="800" dirty="0">
                <a:solidFill>
                  <a:srgbClr val="030A18"/>
                </a:solidFill>
              </a:rPr>
              <a:t>e violência</a:t>
            </a:r>
            <a:endParaRPr lang="en-US" sz="800" dirty="0"/>
          </a:p>
        </p:txBody>
      </p:sp>
      <p:sp>
        <p:nvSpPr>
          <p:cNvPr id="8" name="Shape 6"/>
          <p:cNvSpPr/>
          <p:nvPr/>
        </p:nvSpPr>
        <p:spPr>
          <a:xfrm>
            <a:off x="4617720" y="2194560"/>
            <a:ext cx="137160" cy="0"/>
          </a:xfrm>
          <a:prstGeom prst="line">
            <a:avLst/>
          </a:prstGeom>
          <a:noFill/>
          <a:ln w="12700">
            <a:solidFill>
              <a:srgbClr val="90CAF9"/>
            </a:solidFill>
            <a:prstDash val="solid"/>
            <a:tailEnd type="triangle"/>
          </a:ln>
        </p:spPr>
        <p:txBody>
          <a:bodyPr/>
          <a:lstStyle/>
          <a:p>
            <a:endParaRPr/>
          </a:p>
        </p:txBody>
      </p:sp>
      <p:sp>
        <p:nvSpPr>
          <p:cNvPr id="9" name="Shape 7"/>
          <p:cNvSpPr/>
          <p:nvPr/>
        </p:nvSpPr>
        <p:spPr>
          <a:xfrm>
            <a:off x="4754880" y="1920240"/>
            <a:ext cx="2011680" cy="548640"/>
          </a:xfrm>
          <a:prstGeom prst="roundRect">
            <a:avLst>
              <a:gd name="adj" fmla="val 16667"/>
            </a:avLst>
          </a:prstGeom>
          <a:solidFill>
            <a:srgbClr val="E1F5FE"/>
          </a:solidFill>
          <a:ln w="12700">
            <a:solidFill>
              <a:srgbClr val="B0BEC5"/>
            </a:solidFill>
            <a:prstDash val="solid"/>
          </a:ln>
        </p:spPr>
        <p:txBody>
          <a:bodyPr/>
          <a:lstStyle/>
          <a:p>
            <a:endParaRPr/>
          </a:p>
        </p:txBody>
      </p:sp>
      <p:sp>
        <p:nvSpPr>
          <p:cNvPr id="10" name="Text 8"/>
          <p:cNvSpPr/>
          <p:nvPr/>
        </p:nvSpPr>
        <p:spPr>
          <a:xfrm>
            <a:off x="4754880" y="1920240"/>
            <a:ext cx="2011680" cy="548640"/>
          </a:xfrm>
          <a:prstGeom prst="rect">
            <a:avLst/>
          </a:prstGeom>
          <a:noFill/>
          <a:ln/>
        </p:spPr>
        <p:txBody>
          <a:bodyPr wrap="square" rtlCol="0" anchor="ctr"/>
          <a:lstStyle/>
          <a:p>
            <a:pPr marL="0" indent="0" algn="ctr">
              <a:buNone/>
            </a:pPr>
            <a:r>
              <a:rPr lang="en-US" sz="800" dirty="0">
                <a:solidFill>
                  <a:srgbClr val="030A18"/>
                </a:solidFill>
              </a:rPr>
              <a:t>Integração GIS</a:t>
            </a:r>
            <a:endParaRPr lang="en-US" sz="800" dirty="0"/>
          </a:p>
        </p:txBody>
      </p:sp>
      <p:sp>
        <p:nvSpPr>
          <p:cNvPr id="11" name="Shape 9"/>
          <p:cNvSpPr/>
          <p:nvPr/>
        </p:nvSpPr>
        <p:spPr>
          <a:xfrm>
            <a:off x="1828800" y="3017520"/>
            <a:ext cx="2011680" cy="548640"/>
          </a:xfrm>
          <a:prstGeom prst="roundRect">
            <a:avLst>
              <a:gd name="adj" fmla="val 16667"/>
            </a:avLst>
          </a:prstGeom>
          <a:solidFill>
            <a:srgbClr val="E8F5E9"/>
          </a:solidFill>
          <a:ln w="12700">
            <a:solidFill>
              <a:srgbClr val="B0BEC5"/>
            </a:solidFill>
            <a:prstDash val="solid"/>
          </a:ln>
        </p:spPr>
        <p:txBody>
          <a:bodyPr/>
          <a:lstStyle/>
          <a:p>
            <a:endParaRPr/>
          </a:p>
        </p:txBody>
      </p:sp>
      <p:sp>
        <p:nvSpPr>
          <p:cNvPr id="12" name="Text 10"/>
          <p:cNvSpPr/>
          <p:nvPr/>
        </p:nvSpPr>
        <p:spPr>
          <a:xfrm>
            <a:off x="1828800" y="3017520"/>
            <a:ext cx="2011680" cy="548640"/>
          </a:xfrm>
          <a:prstGeom prst="rect">
            <a:avLst/>
          </a:prstGeom>
          <a:noFill/>
          <a:ln/>
        </p:spPr>
        <p:txBody>
          <a:bodyPr wrap="square" rtlCol="0" anchor="ctr"/>
          <a:lstStyle/>
          <a:p>
            <a:pPr marL="0" indent="0" algn="ctr">
              <a:buNone/>
            </a:pPr>
            <a:r>
              <a:rPr lang="en-US" sz="800" dirty="0">
                <a:solidFill>
                  <a:srgbClr val="030A18"/>
                </a:solidFill>
              </a:rPr>
              <a:t>Simulação de rotas</a:t>
            </a:r>
            <a:endParaRPr lang="en-US" sz="800" dirty="0"/>
          </a:p>
          <a:p>
            <a:pPr marL="0" indent="0" algn="ctr">
              <a:buNone/>
            </a:pPr>
            <a:r>
              <a:rPr lang="en-US" sz="800" dirty="0">
                <a:solidFill>
                  <a:srgbClr val="030A18"/>
                </a:solidFill>
              </a:rPr>
              <a:t>seguras</a:t>
            </a:r>
            <a:endParaRPr lang="en-US" sz="800" dirty="0"/>
          </a:p>
        </p:txBody>
      </p:sp>
      <p:sp>
        <p:nvSpPr>
          <p:cNvPr id="13" name="Shape 11"/>
          <p:cNvSpPr/>
          <p:nvPr/>
        </p:nvSpPr>
        <p:spPr>
          <a:xfrm>
            <a:off x="3840480" y="3291840"/>
            <a:ext cx="137160" cy="0"/>
          </a:xfrm>
          <a:prstGeom prst="line">
            <a:avLst/>
          </a:prstGeom>
          <a:noFill/>
          <a:ln w="12700">
            <a:solidFill>
              <a:srgbClr val="90CAF9"/>
            </a:solidFill>
            <a:prstDash val="solid"/>
            <a:tailEnd type="triangle"/>
          </a:ln>
        </p:spPr>
        <p:txBody>
          <a:bodyPr/>
          <a:lstStyle/>
          <a:p>
            <a:endParaRPr/>
          </a:p>
        </p:txBody>
      </p:sp>
      <p:sp>
        <p:nvSpPr>
          <p:cNvPr id="14" name="Shape 12"/>
          <p:cNvSpPr/>
          <p:nvPr/>
        </p:nvSpPr>
        <p:spPr>
          <a:xfrm>
            <a:off x="3977640" y="3017520"/>
            <a:ext cx="2011680" cy="548640"/>
          </a:xfrm>
          <a:prstGeom prst="roundRect">
            <a:avLst>
              <a:gd name="adj" fmla="val 16667"/>
            </a:avLst>
          </a:prstGeom>
          <a:solidFill>
            <a:srgbClr val="E1F5FE"/>
          </a:solidFill>
          <a:ln w="12700">
            <a:solidFill>
              <a:srgbClr val="B0BEC5"/>
            </a:solidFill>
            <a:prstDash val="solid"/>
          </a:ln>
        </p:spPr>
        <p:txBody>
          <a:bodyPr/>
          <a:lstStyle/>
          <a:p>
            <a:endParaRPr/>
          </a:p>
        </p:txBody>
      </p:sp>
      <p:sp>
        <p:nvSpPr>
          <p:cNvPr id="15" name="Text 13"/>
          <p:cNvSpPr/>
          <p:nvPr/>
        </p:nvSpPr>
        <p:spPr>
          <a:xfrm>
            <a:off x="3977640" y="3017520"/>
            <a:ext cx="2011680" cy="548640"/>
          </a:xfrm>
          <a:prstGeom prst="rect">
            <a:avLst/>
          </a:prstGeom>
          <a:noFill/>
          <a:ln/>
        </p:spPr>
        <p:txBody>
          <a:bodyPr wrap="square" rtlCol="0" anchor="ctr"/>
          <a:lstStyle/>
          <a:p>
            <a:pPr marL="0" indent="0" algn="ctr">
              <a:buNone/>
            </a:pPr>
            <a:r>
              <a:rPr lang="en-US" sz="800" dirty="0">
                <a:solidFill>
                  <a:srgbClr val="030A18"/>
                </a:solidFill>
              </a:rPr>
              <a:t>Métricas de acesso</a:t>
            </a:r>
            <a:endParaRPr lang="en-US" sz="800" dirty="0"/>
          </a:p>
        </p:txBody>
      </p:sp>
      <p:sp>
        <p:nvSpPr>
          <p:cNvPr id="16" name="Shape 14"/>
          <p:cNvSpPr/>
          <p:nvPr/>
        </p:nvSpPr>
        <p:spPr>
          <a:xfrm>
            <a:off x="1554480" y="2468880"/>
            <a:ext cx="0" cy="822960"/>
          </a:xfrm>
          <a:prstGeom prst="line">
            <a:avLst/>
          </a:prstGeom>
          <a:noFill/>
          <a:ln w="12700">
            <a:solidFill>
              <a:srgbClr val="90CAF9"/>
            </a:solidFill>
            <a:prstDash val="solid"/>
            <a:tailEnd type="triangle"/>
          </a:ln>
        </p:spPr>
        <p:txBody>
          <a:bodyPr/>
          <a:lstStyle/>
          <a:p>
            <a:endParaRPr/>
          </a:p>
        </p:txBody>
      </p:sp>
      <p:sp>
        <p:nvSpPr>
          <p:cNvPr id="17" name="Text 15"/>
          <p:cNvSpPr/>
          <p:nvPr/>
        </p:nvSpPr>
        <p:spPr>
          <a:xfrm>
            <a:off x="457200" y="1097280"/>
            <a:ext cx="8686800" cy="640080"/>
          </a:xfrm>
          <a:prstGeom prst="rect">
            <a:avLst/>
          </a:prstGeom>
          <a:noFill/>
          <a:ln/>
        </p:spPr>
        <p:txBody>
          <a:bodyPr wrap="square" rtlCol="0" anchor="ctr"/>
          <a:lstStyle/>
          <a:p>
            <a:pPr marL="0" indent="0">
              <a:buNone/>
            </a:pPr>
            <a:r>
              <a:rPr lang="en-US" sz="1600" b="1" dirty="0">
                <a:solidFill>
                  <a:srgbClr val="030A18"/>
                </a:solidFill>
              </a:rPr>
              <a:t>Dados e Processos
</a:t>
            </a:r>
            <a:r>
              <a:rPr lang="en-US" sz="1200" dirty="0">
                <a:solidFill>
                  <a:srgbClr val="030A18"/>
                </a:solidFill>
              </a:rPr>
              <a:t>• Censo escolar e cadastro de escolas
• Ocorrências criminais georreferenciadas (polícia, mapas da violência)
• Algoritmo de roteamento evita zonas de risco</a:t>
            </a:r>
            <a:endParaRPr lang="en-US" sz="1600" dirty="0"/>
          </a:p>
        </p:txBody>
      </p:sp>
      <p:sp>
        <p:nvSpPr>
          <p:cNvPr id="18" name="Text 16"/>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3">
                  <a:extLst>
                    <a:ext uri="{A12FA001-AC4F-418D-AE19-62706E023703}">
                      <ahyp:hlinkClr xmlns:ahyp="http://schemas.microsoft.com/office/drawing/2018/hyperlinkcolor" xmlns="" val="tx"/>
                    </a:ext>
                  </a:extLst>
                </a:hlinkClick>
              </a:rPr>
              <a:t>[26]</a:t>
            </a:r>
            <a:endParaRPr lang="en-US" sz="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Resultados do Caso de Estudo</a:t>
            </a:r>
            <a:endParaRPr lang="en-US" sz="2400" dirty="0"/>
          </a:p>
        </p:txBody>
      </p:sp>
      <p:pic>
        <p:nvPicPr>
          <p:cNvPr id="3" name="Image 0" descr="preencoded.png"/>
          <p:cNvPicPr>
            <a:picLocks noChangeAspect="1"/>
          </p:cNvPicPr>
          <p:nvPr/>
        </p:nvPicPr>
        <p:blipFill>
          <a:blip r:embed="rId3"/>
          <a:stretch>
            <a:fillRect/>
          </a:stretch>
        </p:blipFill>
        <p:spPr>
          <a:xfrm>
            <a:off x="457200" y="1097280"/>
            <a:ext cx="457200" cy="457200"/>
          </a:xfrm>
          <a:prstGeom prst="rect">
            <a:avLst/>
          </a:prstGeom>
        </p:spPr>
      </p:pic>
      <p:graphicFrame>
        <p:nvGraphicFramePr>
          <p:cNvPr id="4" name="Chart 0"/>
          <p:cNvGraphicFramePr/>
          <p:nvPr/>
        </p:nvGraphicFramePr>
        <p:xfrm>
          <a:off x="457200" y="2011680"/>
          <a:ext cx="411480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 1"/>
          <p:cNvSpPr/>
          <p:nvPr/>
        </p:nvSpPr>
        <p:spPr>
          <a:xfrm>
            <a:off x="4754880" y="2011680"/>
            <a:ext cx="3931920" cy="2377440"/>
          </a:xfrm>
          <a:prstGeom prst="rect">
            <a:avLst/>
          </a:prstGeom>
          <a:noFill/>
          <a:ln/>
        </p:spPr>
        <p:txBody>
          <a:bodyPr wrap="square" rtlCol="0" anchor="ctr"/>
          <a:lstStyle/>
          <a:p>
            <a:pPr marL="0" indent="0">
              <a:buNone/>
            </a:pPr>
            <a:r>
              <a:rPr lang="en-US" sz="1200" dirty="0">
                <a:solidFill>
                  <a:srgbClr val="030A18"/>
                </a:solidFill>
              </a:rPr>
              <a:t>• Rotas seguras aumentam o tempo médio de deslocamento em 48,6%
• Redução drástica da exposição a zonas de crime
• Ineficiências revelam barreiras adicionais para estudantes em áreas violentas</a:t>
            </a:r>
            <a:endParaRPr lang="en-US" sz="1200" dirty="0"/>
          </a:p>
        </p:txBody>
      </p:sp>
      <p:sp>
        <p:nvSpPr>
          <p:cNvPr id="6"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5">
                  <a:extLst>
                    <a:ext uri="{A12FA001-AC4F-418D-AE19-62706E023703}">
                      <ahyp:hlinkClr xmlns:ahyp="http://schemas.microsoft.com/office/drawing/2018/hyperlinkcolor" xmlns="" val="tx"/>
                    </a:ext>
                  </a:extLst>
                </a:hlinkClick>
              </a:rPr>
              <a:t>[27]</a:t>
            </a:r>
            <a:endParaRPr lang="en-US" sz="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Discussão e Implicações</a:t>
            </a:r>
            <a:endParaRPr lang="en-US" sz="2400" dirty="0"/>
          </a:p>
        </p:txBody>
      </p:sp>
      <p:pic>
        <p:nvPicPr>
          <p:cNvPr id="3" name="Image 0" descr="preencoded.png"/>
          <p:cNvPicPr>
            <a:picLocks noChangeAspect="1"/>
          </p:cNvPicPr>
          <p:nvPr/>
        </p:nvPicPr>
        <p:blipFill>
          <a:blip r:embed="rId3"/>
          <a:stretch>
            <a:fillRect/>
          </a:stretch>
        </p:blipFill>
        <p:spPr>
          <a:xfrm>
            <a:off x="457200" y="1097280"/>
            <a:ext cx="457200" cy="457200"/>
          </a:xfrm>
          <a:prstGeom prst="rect">
            <a:avLst/>
          </a:prstGeom>
        </p:spPr>
      </p:pic>
      <p:sp>
        <p:nvSpPr>
          <p:cNvPr id="4" name="Text 1"/>
          <p:cNvSpPr/>
          <p:nvPr/>
        </p:nvSpPr>
        <p:spPr>
          <a:xfrm>
            <a:off x="1097280" y="1005840"/>
            <a:ext cx="7772400" cy="3200400"/>
          </a:xfrm>
          <a:prstGeom prst="rect">
            <a:avLst/>
          </a:prstGeom>
          <a:noFill/>
          <a:ln/>
        </p:spPr>
        <p:txBody>
          <a:bodyPr wrap="square" rtlCol="0" anchor="ctr"/>
          <a:lstStyle/>
          <a:p>
            <a:pPr marL="0" indent="0">
              <a:buNone/>
            </a:pPr>
            <a:r>
              <a:rPr lang="en-US" sz="1200" dirty="0">
                <a:solidFill>
                  <a:srgbClr val="030A18"/>
                </a:solidFill>
              </a:rPr>
              <a:t>• Planejamento deve considerar segurança como componente do acesso
• Há trade-off entre tempo de deslocamento e risco
• Necessidade de políticas integradas: educação, segurança e transporte</a:t>
            </a:r>
            <a:endParaRPr lang="en-US" sz="1200" dirty="0"/>
          </a:p>
        </p:txBody>
      </p:sp>
      <p:sp>
        <p:nvSpPr>
          <p:cNvPr id="5"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4">
                  <a:extLst>
                    <a:ext uri="{A12FA001-AC4F-418D-AE19-62706E023703}">
                      <ahyp:hlinkClr xmlns:ahyp="http://schemas.microsoft.com/office/drawing/2018/hyperlinkcolor" xmlns="" val="tx"/>
                    </a:ext>
                  </a:extLst>
                </a:hlinkClick>
              </a:rPr>
              <a:t>[28]</a:t>
            </a:r>
            <a:endParaRPr lang="en-US" sz="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Dilemas Éticos</a:t>
            </a:r>
            <a:endParaRPr lang="en-US" sz="2400" dirty="0"/>
          </a:p>
        </p:txBody>
      </p:sp>
      <p:pic>
        <p:nvPicPr>
          <p:cNvPr id="3" name="Image 0" descr="preencoded.png"/>
          <p:cNvPicPr>
            <a:picLocks noChangeAspect="1"/>
          </p:cNvPicPr>
          <p:nvPr/>
        </p:nvPicPr>
        <p:blipFill>
          <a:blip r:embed="rId3"/>
          <a:stretch>
            <a:fillRect/>
          </a:stretch>
        </p:blipFill>
        <p:spPr>
          <a:xfrm>
            <a:off x="5852160" y="1097280"/>
            <a:ext cx="3291840" cy="3291840"/>
          </a:xfrm>
          <a:prstGeom prst="rect">
            <a:avLst/>
          </a:prstGeom>
        </p:spPr>
      </p:pic>
      <p:pic>
        <p:nvPicPr>
          <p:cNvPr id="4" name="Image 1" descr="preencoded.png"/>
          <p:cNvPicPr>
            <a:picLocks noChangeAspect="1"/>
          </p:cNvPicPr>
          <p:nvPr/>
        </p:nvPicPr>
        <p:blipFill>
          <a:blip r:embed="rId4"/>
          <a:stretch>
            <a:fillRect/>
          </a:stretch>
        </p:blipFill>
        <p:spPr>
          <a:xfrm>
            <a:off x="457200" y="1097280"/>
            <a:ext cx="457200" cy="457200"/>
          </a:xfrm>
          <a:prstGeom prst="rect">
            <a:avLst/>
          </a:prstGeom>
        </p:spPr>
      </p:pic>
      <p:sp>
        <p:nvSpPr>
          <p:cNvPr id="5" name="Text 1"/>
          <p:cNvSpPr/>
          <p:nvPr/>
        </p:nvSpPr>
        <p:spPr>
          <a:xfrm>
            <a:off x="1097280" y="1005840"/>
            <a:ext cx="4572000" cy="3474720"/>
          </a:xfrm>
          <a:prstGeom prst="rect">
            <a:avLst/>
          </a:prstGeom>
          <a:noFill/>
          <a:ln/>
        </p:spPr>
        <p:txBody>
          <a:bodyPr wrap="square" rtlCol="0" anchor="ctr"/>
          <a:lstStyle/>
          <a:p>
            <a:pPr marL="0" indent="0">
              <a:buNone/>
            </a:pPr>
            <a:r>
              <a:rPr lang="en-US" sz="1200" dirty="0">
                <a:solidFill>
                  <a:srgbClr val="030A18"/>
                </a:solidFill>
              </a:rPr>
              <a:t>• Privacidade e anonimização de dados georreferenciados
• Potencial de viés e discriminação espacial
• Inclusão de comunidades e participação social na coleta e validação de dados</a:t>
            </a:r>
            <a:endParaRPr lang="en-US" sz="1200" dirty="0"/>
          </a:p>
        </p:txBody>
      </p:sp>
      <p:sp>
        <p:nvSpPr>
          <p:cNvPr id="6"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5">
                  <a:extLst>
                    <a:ext uri="{A12FA001-AC4F-418D-AE19-62706E023703}">
                      <ahyp:hlinkClr xmlns:ahyp="http://schemas.microsoft.com/office/drawing/2018/hyperlinkcolor" xmlns="" val="tx"/>
                    </a:ext>
                  </a:extLst>
                </a:hlinkClick>
              </a:rPr>
              <a:t>[29]</a:t>
            </a:r>
            <a:endParaRPr lang="en-US" sz="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Direções Futuras</a:t>
            </a:r>
            <a:endParaRPr lang="en-US" sz="2400" dirty="0"/>
          </a:p>
        </p:txBody>
      </p:sp>
      <p:pic>
        <p:nvPicPr>
          <p:cNvPr id="3" name="Image 0" descr="preencoded.png"/>
          <p:cNvPicPr>
            <a:picLocks noChangeAspect="1"/>
          </p:cNvPicPr>
          <p:nvPr/>
        </p:nvPicPr>
        <p:blipFill>
          <a:blip r:embed="rId3"/>
          <a:stretch>
            <a:fillRect/>
          </a:stretch>
        </p:blipFill>
        <p:spPr>
          <a:xfrm>
            <a:off x="457200" y="1097280"/>
            <a:ext cx="457200" cy="457200"/>
          </a:xfrm>
          <a:prstGeom prst="rect">
            <a:avLst/>
          </a:prstGeom>
        </p:spPr>
      </p:pic>
      <p:sp>
        <p:nvSpPr>
          <p:cNvPr id="4" name="Text 1"/>
          <p:cNvSpPr/>
          <p:nvPr/>
        </p:nvSpPr>
        <p:spPr>
          <a:xfrm>
            <a:off x="1097280" y="1005840"/>
            <a:ext cx="7772400" cy="3474720"/>
          </a:xfrm>
          <a:prstGeom prst="rect">
            <a:avLst/>
          </a:prstGeom>
          <a:noFill/>
          <a:ln/>
        </p:spPr>
        <p:txBody>
          <a:bodyPr wrap="square" rtlCol="0" anchor="ctr"/>
          <a:lstStyle/>
          <a:p>
            <a:pPr marL="0" indent="0">
              <a:buNone/>
            </a:pPr>
            <a:r>
              <a:rPr lang="en-US" sz="1200" dirty="0">
                <a:solidFill>
                  <a:srgbClr val="030A18"/>
                </a:solidFill>
              </a:rPr>
              <a:t>• Integração de Big Data e machine learning em análises geoespaciais
• Participatory mapping e dados colaborativos para inclusão social
• Dados em tempo real para gestão de emergências e mobilidade
• Formação continuada e fortalecimento da capacidade institucional</a:t>
            </a:r>
            <a:endParaRPr lang="en-US" sz="1200" dirty="0"/>
          </a:p>
        </p:txBody>
      </p:sp>
      <p:sp>
        <p:nvSpPr>
          <p:cNvPr id="5"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4">
                  <a:extLst>
                    <a:ext uri="{A12FA001-AC4F-418D-AE19-62706E023703}">
                      <ahyp:hlinkClr xmlns:ahyp="http://schemas.microsoft.com/office/drawing/2018/hyperlinkcolor" xmlns="" val="tx"/>
                    </a:ext>
                  </a:extLst>
                </a:hlinkClick>
              </a:rPr>
              <a:t>[30]</a:t>
            </a:r>
            <a:endParaRPr lang="en-US" sz="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pPr marL="0" indent="0">
              <a:buNone/>
            </a:pPr>
            <a:r>
              <a:rPr lang="en-US" sz="2400" dirty="0">
                <a:solidFill>
                  <a:srgbClr val="030A18"/>
                </a:solidFill>
                <a:latin typeface="Arial" pitchFamily="34" charset="0"/>
                <a:ea typeface="Arial" pitchFamily="34" charset="-122"/>
                <a:cs typeface="Arial" pitchFamily="34" charset="-120"/>
              </a:rPr>
              <a:t>Conclusão e Debate</a:t>
            </a:r>
            <a:endParaRPr lang="en-US" sz="2400" dirty="0"/>
          </a:p>
        </p:txBody>
      </p:sp>
      <p:pic>
        <p:nvPicPr>
          <p:cNvPr id="3" name="Image 0" descr="preencoded.png"/>
          <p:cNvPicPr>
            <a:picLocks noChangeAspect="1"/>
          </p:cNvPicPr>
          <p:nvPr/>
        </p:nvPicPr>
        <p:blipFill>
          <a:blip r:embed="rId3"/>
          <a:stretch>
            <a:fillRect/>
          </a:stretch>
        </p:blipFill>
        <p:spPr>
          <a:xfrm>
            <a:off x="457200" y="1188720"/>
            <a:ext cx="548640" cy="548640"/>
          </a:xfrm>
          <a:prstGeom prst="rect">
            <a:avLst/>
          </a:prstGeom>
        </p:spPr>
      </p:pic>
      <p:sp>
        <p:nvSpPr>
          <p:cNvPr id="4" name="Text 1"/>
          <p:cNvSpPr/>
          <p:nvPr/>
        </p:nvSpPr>
        <p:spPr>
          <a:xfrm>
            <a:off x="1097280" y="1097280"/>
            <a:ext cx="7772400" cy="3474720"/>
          </a:xfrm>
          <a:prstGeom prst="rect">
            <a:avLst/>
          </a:prstGeom>
          <a:noFill/>
          <a:ln/>
        </p:spPr>
        <p:txBody>
          <a:bodyPr wrap="square" rtlCol="0" anchor="ctr"/>
          <a:lstStyle/>
          <a:p>
            <a:pPr marL="0" indent="0">
              <a:buNone/>
            </a:pPr>
            <a:r>
              <a:rPr lang="en-US" sz="1600" b="1" dirty="0">
                <a:solidFill>
                  <a:srgbClr val="030A18"/>
                </a:solidFill>
              </a:rPr>
              <a:t>Principais mensagens:
</a:t>
            </a:r>
            <a:r>
              <a:rPr lang="en-US" sz="1200" dirty="0">
                <a:solidFill>
                  <a:srgbClr val="030A18"/>
                </a:solidFill>
              </a:rPr>
              <a:t>• GIS é ferramenta essencial para diagnósticos, desenho, implementação e avaliação de políticas
• Aplicações empíricas demonstram impacto real sobre desigualdades e governança
• Ética, capacidade institucional e participação devem acompanhar o avanço tecnológico</a:t>
            </a:r>
            <a:endParaRPr lang="en-US" sz="1600" dirty="0"/>
          </a:p>
          <a:p>
            <a:pPr marL="0" indent="0">
              <a:buNone/>
            </a:pPr>
            <a:r>
              <a:rPr lang="en-US" sz="1600" b="1" dirty="0">
                <a:solidFill>
                  <a:srgbClr val="030A18"/>
                </a:solidFill>
              </a:rPr>
              <a:t>Perguntas?</a:t>
            </a:r>
            <a:endParaRPr lang="en-US" sz="1600" dirty="0"/>
          </a:p>
        </p:txBody>
      </p:sp>
      <p:sp>
        <p:nvSpPr>
          <p:cNvPr id="5"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4">
                  <a:extLst>
                    <a:ext uri="{A12FA001-AC4F-418D-AE19-62706E023703}">
                      <ahyp:hlinkClr xmlns:ahyp="http://schemas.microsoft.com/office/drawing/2018/hyperlinkcolor" xmlns="" val="tx"/>
                    </a:ext>
                  </a:extLst>
                </a:hlinkClick>
              </a:rPr>
              <a:t>[31]</a:t>
            </a:r>
            <a:endParaRPr lang="en-US" sz="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r>
              <a:rPr lang="en-US" sz="2000" dirty="0"/>
              <a:t>“Crime-associated inequality in geographical access to education: Insights from Rio de Janeiro” (Knoblauch et al., 2025),</a:t>
            </a:r>
            <a:endParaRPr lang="en-US" sz="2000" dirty="0"/>
          </a:p>
        </p:txBody>
      </p:sp>
      <p:sp>
        <p:nvSpPr>
          <p:cNvPr id="4" name="Text 1"/>
          <p:cNvSpPr/>
          <p:nvPr/>
        </p:nvSpPr>
        <p:spPr>
          <a:xfrm>
            <a:off x="1097280" y="1097280"/>
            <a:ext cx="7772400" cy="3474720"/>
          </a:xfrm>
          <a:prstGeom prst="rect">
            <a:avLst/>
          </a:prstGeom>
          <a:noFill/>
          <a:ln/>
        </p:spPr>
        <p:txBody>
          <a:bodyPr wrap="square" rtlCol="0" anchor="ctr"/>
          <a:lstStyle/>
          <a:p>
            <a:pPr marL="0" indent="0">
              <a:buNone/>
            </a:pPr>
            <a:r>
              <a:rPr lang="en-US" sz="1600" b="1" dirty="0" smtClean="0">
                <a:solidFill>
                  <a:srgbClr val="030A18"/>
                </a:solidFill>
              </a:rPr>
              <a:t>1. </a:t>
            </a:r>
            <a:r>
              <a:rPr lang="en-US" sz="1600" b="1" dirty="0" err="1" smtClean="0">
                <a:solidFill>
                  <a:srgbClr val="030A18"/>
                </a:solidFill>
              </a:rPr>
              <a:t>Pergunta</a:t>
            </a:r>
            <a:r>
              <a:rPr lang="en-US" sz="1600" b="1" dirty="0" smtClean="0">
                <a:solidFill>
                  <a:srgbClr val="030A18"/>
                </a:solidFill>
              </a:rPr>
              <a:t> de </a:t>
            </a:r>
            <a:r>
              <a:rPr lang="en-US" sz="1600" b="1" dirty="0" err="1" smtClean="0">
                <a:solidFill>
                  <a:srgbClr val="030A18"/>
                </a:solidFill>
              </a:rPr>
              <a:t>Pesquisa</a:t>
            </a:r>
            <a:r>
              <a:rPr lang="en-US" sz="1600" b="1" dirty="0" smtClean="0">
                <a:solidFill>
                  <a:srgbClr val="030A18"/>
                </a:solidFill>
              </a:rPr>
              <a:t>:</a:t>
            </a:r>
          </a:p>
          <a:p>
            <a:pPr marL="0" indent="0">
              <a:buNone/>
            </a:pPr>
            <a:endParaRPr lang="en-US" sz="1600" b="1" dirty="0">
              <a:solidFill>
                <a:srgbClr val="030A18"/>
              </a:solidFill>
            </a:endParaRPr>
          </a:p>
          <a:p>
            <a:pPr marL="285750" indent="-285750">
              <a:buFont typeface="Arial" panose="020B0604020202020204" pitchFamily="34" charset="0"/>
              <a:buChar char="•"/>
            </a:pPr>
            <a:r>
              <a:rPr lang="pt-BR" sz="1600" dirty="0"/>
              <a:t>O estudo investiga “até que ponto o crime potencialmente inibe o acesso geográfico às escolas, medido pelo tempo médio de deslocamento”. </a:t>
            </a:r>
            <a:endParaRPr lang="pt-BR" sz="1600" dirty="0" smtClean="0"/>
          </a:p>
          <a:p>
            <a:pPr marL="285750" indent="-285750">
              <a:buFont typeface="Arial" panose="020B0604020202020204" pitchFamily="34" charset="0"/>
              <a:buChar char="•"/>
            </a:pPr>
            <a:endParaRPr lang="pt-BR" sz="1600" dirty="0" smtClean="0"/>
          </a:p>
          <a:p>
            <a:pPr marL="285750" indent="-285750">
              <a:buFont typeface="Arial" panose="020B0604020202020204" pitchFamily="34" charset="0"/>
              <a:buChar char="•"/>
            </a:pPr>
            <a:r>
              <a:rPr lang="pt-BR" sz="1600" dirty="0" smtClean="0"/>
              <a:t>Para </a:t>
            </a:r>
            <a:r>
              <a:rPr lang="pt-BR" sz="1600" dirty="0"/>
              <a:t>responder a essa pergunta, os autores desenvolvem um método de </a:t>
            </a:r>
            <a:r>
              <a:rPr lang="pt-BR" sz="1600" b="1" dirty="0"/>
              <a:t>roteamento pedestre ciente de crimes</a:t>
            </a:r>
            <a:r>
              <a:rPr lang="pt-BR" sz="1600" dirty="0"/>
              <a:t> (crime‑</a:t>
            </a:r>
            <a:r>
              <a:rPr lang="pt-BR" sz="1600" dirty="0" err="1"/>
              <a:t>conscious</a:t>
            </a:r>
            <a:r>
              <a:rPr lang="pt-BR" sz="1600" dirty="0"/>
              <a:t> </a:t>
            </a:r>
            <a:r>
              <a:rPr lang="pt-BR" sz="1600" dirty="0" err="1"/>
              <a:t>routing</a:t>
            </a:r>
            <a:r>
              <a:rPr lang="pt-BR" sz="1600" dirty="0"/>
              <a:t>), que simula trajetos escolares que evitam áreas de alto risco. O </a:t>
            </a:r>
            <a:r>
              <a:rPr lang="pt-BR" sz="1600" u="sng" dirty="0"/>
              <a:t>objetivo é quantificar as desigualdades de acesso educacional associadas à violência urbana</a:t>
            </a:r>
            <a:r>
              <a:rPr lang="pt-BR" sz="1600" dirty="0"/>
              <a:t>, com foco na cidade do Rio de Janeiro. </a:t>
            </a:r>
            <a:endParaRPr lang="pt-BR" sz="1600" dirty="0" smtClean="0"/>
          </a:p>
          <a:p>
            <a:pPr marL="285750" indent="-285750">
              <a:buFont typeface="Arial" panose="020B0604020202020204" pitchFamily="34" charset="0"/>
              <a:buChar char="•"/>
            </a:pPr>
            <a:endParaRPr lang="pt-BR" sz="1600" dirty="0" smtClean="0"/>
          </a:p>
          <a:p>
            <a:pPr marL="285750" indent="-285750">
              <a:buFont typeface="Arial" panose="020B0604020202020204" pitchFamily="34" charset="0"/>
              <a:buChar char="•"/>
            </a:pPr>
            <a:r>
              <a:rPr lang="pt-BR" sz="1600" dirty="0" smtClean="0"/>
              <a:t>Além </a:t>
            </a:r>
            <a:r>
              <a:rPr lang="pt-BR" sz="1600" dirty="0"/>
              <a:t>da mensuração do tempo de viagem, a análise avalia reduções na exposição média e máxima a crimes ao longo das rotas.</a:t>
            </a:r>
            <a:endParaRPr lang="en-US" sz="1600" b="1" dirty="0" smtClean="0">
              <a:solidFill>
                <a:srgbClr val="030A18"/>
              </a:solidFill>
            </a:endParaRPr>
          </a:p>
        </p:txBody>
      </p:sp>
      <p:sp>
        <p:nvSpPr>
          <p:cNvPr id="5"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3">
                  <a:extLst>
                    <a:ext uri="{A12FA001-AC4F-418D-AE19-62706E023703}">
                      <ahyp:hlinkClr xmlns:ahyp="http://schemas.microsoft.com/office/drawing/2018/hyperlinkcolor" xmlns="" val="tx"/>
                    </a:ext>
                  </a:extLst>
                </a:hlinkClick>
              </a:rPr>
              <a:t>[31]</a:t>
            </a:r>
            <a:endParaRPr lang="en-US" sz="600" dirty="0"/>
          </a:p>
        </p:txBody>
      </p:sp>
    </p:spTree>
    <p:extLst>
      <p:ext uri="{BB962C8B-B14F-4D97-AF65-F5344CB8AC3E}">
        <p14:creationId xmlns:p14="http://schemas.microsoft.com/office/powerpoint/2010/main" val="31743953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r>
              <a:rPr lang="en-US" sz="2000" dirty="0"/>
              <a:t>“Crime-associated inequality in geographical access to education: Insights from Rio de Janeiro” (Knoblauch et al., 2025),</a:t>
            </a:r>
            <a:endParaRPr lang="en-US" sz="2000" dirty="0"/>
          </a:p>
        </p:txBody>
      </p:sp>
      <p:sp>
        <p:nvSpPr>
          <p:cNvPr id="4" name="Text 1"/>
          <p:cNvSpPr/>
          <p:nvPr/>
        </p:nvSpPr>
        <p:spPr>
          <a:xfrm>
            <a:off x="1097280" y="1097280"/>
            <a:ext cx="7772400" cy="3474720"/>
          </a:xfrm>
          <a:prstGeom prst="rect">
            <a:avLst/>
          </a:prstGeom>
          <a:noFill/>
          <a:ln/>
        </p:spPr>
        <p:txBody>
          <a:bodyPr wrap="square" rtlCol="0" anchor="ctr"/>
          <a:lstStyle/>
          <a:p>
            <a:pPr lvl="1"/>
            <a:r>
              <a:rPr lang="en-US" sz="1600" b="1" dirty="0">
                <a:solidFill>
                  <a:srgbClr val="030A18"/>
                </a:solidFill>
              </a:rPr>
              <a:t>2</a:t>
            </a:r>
            <a:r>
              <a:rPr lang="en-US" sz="1600" b="1" dirty="0" smtClean="0">
                <a:solidFill>
                  <a:srgbClr val="030A18"/>
                </a:solidFill>
              </a:rPr>
              <a:t>. </a:t>
            </a:r>
            <a:r>
              <a:rPr lang="en-US" sz="1600" b="1" dirty="0" err="1" smtClean="0">
                <a:solidFill>
                  <a:srgbClr val="030A18"/>
                </a:solidFill>
              </a:rPr>
              <a:t>Motivações</a:t>
            </a:r>
            <a:r>
              <a:rPr lang="en-US" sz="1600" b="1" dirty="0" smtClean="0">
                <a:solidFill>
                  <a:srgbClr val="030A18"/>
                </a:solidFill>
              </a:rPr>
              <a:t> e </a:t>
            </a:r>
            <a:r>
              <a:rPr lang="en-US" sz="1600" b="1" dirty="0" err="1" smtClean="0">
                <a:solidFill>
                  <a:srgbClr val="030A18"/>
                </a:solidFill>
              </a:rPr>
              <a:t>Justificativas</a:t>
            </a:r>
            <a:endParaRPr lang="en-US" sz="1600" b="1" dirty="0" smtClean="0">
              <a:solidFill>
                <a:srgbClr val="030A18"/>
              </a:solidFill>
            </a:endParaRPr>
          </a:p>
          <a:p>
            <a:pPr marL="0" indent="0">
              <a:buNone/>
            </a:pPr>
            <a:endParaRPr lang="en-US" sz="1600" b="1" dirty="0">
              <a:solidFill>
                <a:srgbClr val="030A18"/>
              </a:solidFill>
            </a:endParaRPr>
          </a:p>
          <a:p>
            <a:pPr marL="285750" indent="-285750">
              <a:buFont typeface="Arial" panose="020B0604020202020204" pitchFamily="34" charset="0"/>
              <a:buChar char="•"/>
            </a:pPr>
            <a:r>
              <a:rPr lang="pt-BR" sz="1600" dirty="0" smtClean="0"/>
              <a:t>A educação </a:t>
            </a:r>
            <a:r>
              <a:rPr lang="pt-BR" sz="1600" dirty="0"/>
              <a:t>é apresentada como direito humano fundamental e motor de igualdade social, porém, mesmo com avanços, 244 milhões de crianças e jovens ainda enfrentam barreiras de acesso. </a:t>
            </a:r>
            <a:endParaRPr lang="pt-BR" sz="1600" dirty="0" smtClean="0"/>
          </a:p>
          <a:p>
            <a:pPr marL="285750" indent="-285750">
              <a:buFont typeface="Arial" panose="020B0604020202020204" pitchFamily="34" charset="0"/>
              <a:buChar char="•"/>
            </a:pPr>
            <a:r>
              <a:rPr lang="pt-BR" sz="1600" dirty="0" smtClean="0"/>
              <a:t>No </a:t>
            </a:r>
            <a:r>
              <a:rPr lang="pt-BR" sz="1600" dirty="0"/>
              <a:t>Brasil, as disparidades são marcantes: o país ocupa a 38ª posição entre 44 na participação escolar entre crianças de até 14 anos</a:t>
            </a:r>
            <a:r>
              <a:rPr lang="pt-BR" sz="1600" dirty="0" smtClean="0"/>
              <a:t>.</a:t>
            </a:r>
          </a:p>
          <a:p>
            <a:pPr marL="285750" indent="-285750">
              <a:buFont typeface="Arial" panose="020B0604020202020204" pitchFamily="34" charset="0"/>
              <a:buChar char="•"/>
            </a:pPr>
            <a:r>
              <a:rPr lang="pt-BR" sz="1600" dirty="0" smtClean="0"/>
              <a:t>Programas </a:t>
            </a:r>
            <a:r>
              <a:rPr lang="pt-BR" sz="1600" dirty="0"/>
              <a:t>como Bolsa Família reduziram pobreza e abandono escolar, mas a violência urbana persiste como obstáculo à frequência escolar. Pesquisas nacionais apontam que 11,6 % dos estudantes brasileiros abandonaram a escola por medo da violência, percentual que sobe para 17,6 % no estado do Rio de Janeiro. </a:t>
            </a:r>
            <a:endParaRPr lang="pt-BR" sz="1600" dirty="0" smtClean="0"/>
          </a:p>
          <a:p>
            <a:pPr marL="285750" indent="-285750">
              <a:buFont typeface="Arial" panose="020B0604020202020204" pitchFamily="34" charset="0"/>
              <a:buChar char="•"/>
            </a:pPr>
            <a:r>
              <a:rPr lang="pt-BR" sz="1600" dirty="0"/>
              <a:t>Apesar da relevância do tema, </a:t>
            </a:r>
            <a:r>
              <a:rPr lang="pt-BR" sz="1600" b="1" dirty="0"/>
              <a:t>a literatura ainda carece de estudos que incorporem padrões de crime em modelos de acessibilidade</a:t>
            </a:r>
            <a:r>
              <a:rPr lang="pt-BR" sz="1600" dirty="0"/>
              <a:t>. A proposta do artigo busca preencher essa lacuna, </a:t>
            </a:r>
            <a:r>
              <a:rPr lang="pt-BR" sz="1600" u="sng" dirty="0"/>
              <a:t>articulando métodos de </a:t>
            </a:r>
            <a:r>
              <a:rPr lang="pt-BR" sz="1600" u="sng" dirty="0" err="1"/>
              <a:t>geoinformação</a:t>
            </a:r>
            <a:r>
              <a:rPr lang="pt-BR" sz="1600" u="sng" dirty="0"/>
              <a:t> com políticas públicas de educação</a:t>
            </a:r>
            <a:r>
              <a:rPr lang="pt-BR" sz="1600" dirty="0"/>
              <a:t>.</a:t>
            </a:r>
          </a:p>
        </p:txBody>
      </p:sp>
      <p:sp>
        <p:nvSpPr>
          <p:cNvPr id="5"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3">
                  <a:extLst>
                    <a:ext uri="{A12FA001-AC4F-418D-AE19-62706E023703}">
                      <ahyp:hlinkClr xmlns:ahyp="http://schemas.microsoft.com/office/drawing/2018/hyperlinkcolor" xmlns="" val="tx"/>
                    </a:ext>
                  </a:extLst>
                </a:hlinkClick>
              </a:rPr>
              <a:t>[31]</a:t>
            </a:r>
            <a:endParaRPr lang="en-US" sz="600" dirty="0"/>
          </a:p>
        </p:txBody>
      </p:sp>
    </p:spTree>
    <p:extLst>
      <p:ext uri="{BB962C8B-B14F-4D97-AF65-F5344CB8AC3E}">
        <p14:creationId xmlns:p14="http://schemas.microsoft.com/office/powerpoint/2010/main" val="25718434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r>
              <a:rPr lang="en-US" sz="2000" dirty="0"/>
              <a:t>“Crime-associated inequality in geographical access to education: Insights from Rio de Janeiro” (Knoblauch et al., 2025),</a:t>
            </a:r>
            <a:endParaRPr lang="en-US" sz="2000" dirty="0"/>
          </a:p>
        </p:txBody>
      </p:sp>
      <p:sp>
        <p:nvSpPr>
          <p:cNvPr id="4" name="Text 1"/>
          <p:cNvSpPr/>
          <p:nvPr/>
        </p:nvSpPr>
        <p:spPr>
          <a:xfrm>
            <a:off x="1097280" y="1097280"/>
            <a:ext cx="7772400" cy="3474720"/>
          </a:xfrm>
          <a:prstGeom prst="rect">
            <a:avLst/>
          </a:prstGeom>
          <a:noFill/>
          <a:ln/>
        </p:spPr>
        <p:txBody>
          <a:bodyPr wrap="square" rtlCol="0" anchor="ctr"/>
          <a:lstStyle/>
          <a:p>
            <a:pPr lvl="1"/>
            <a:r>
              <a:rPr lang="en-US" sz="1600" b="1" dirty="0" smtClean="0">
                <a:solidFill>
                  <a:srgbClr val="030A18"/>
                </a:solidFill>
              </a:rPr>
              <a:t>3. </a:t>
            </a:r>
            <a:r>
              <a:rPr lang="pt-BR" sz="1600" b="1" dirty="0" smtClean="0">
                <a:solidFill>
                  <a:srgbClr val="030A18"/>
                </a:solidFill>
              </a:rPr>
              <a:t>Dados </a:t>
            </a:r>
            <a:r>
              <a:rPr lang="pt-BR" sz="1600" b="1" dirty="0">
                <a:solidFill>
                  <a:srgbClr val="030A18"/>
                </a:solidFill>
              </a:rPr>
              <a:t>e métodos</a:t>
            </a:r>
            <a:endParaRPr lang="en-US" sz="1600" b="1" dirty="0" smtClean="0">
              <a:solidFill>
                <a:srgbClr val="030A18"/>
              </a:solidFill>
            </a:endParaRPr>
          </a:p>
          <a:p>
            <a:pPr marL="0" indent="0">
              <a:buNone/>
            </a:pPr>
            <a:endParaRPr lang="en-US" sz="1600" b="1" dirty="0">
              <a:solidFill>
                <a:srgbClr val="030A18"/>
              </a:solidFill>
            </a:endParaRPr>
          </a:p>
          <a:p>
            <a:pPr lvl="1"/>
            <a:r>
              <a:rPr lang="pt-BR" sz="1600" b="1" dirty="0"/>
              <a:t>Base de dados e </a:t>
            </a:r>
            <a:r>
              <a:rPr lang="pt-BR" sz="1600" b="1" dirty="0" err="1"/>
              <a:t>downscaling</a:t>
            </a:r>
            <a:r>
              <a:rPr lang="pt-BR" sz="1600" b="1" dirty="0" smtClean="0"/>
              <a:t>: </a:t>
            </a:r>
          </a:p>
          <a:p>
            <a:pPr marL="285750" indent="-285750">
              <a:buFont typeface="Arial" panose="020B0604020202020204" pitchFamily="34" charset="0"/>
              <a:buChar char="•"/>
            </a:pPr>
            <a:r>
              <a:rPr lang="pt-BR" sz="1600" dirty="0"/>
              <a:t>As estatísticas oficiais de crimes, coletadas entre 2003 e 2023 em 21 unidades policiais, abrangem homicídios, roubos e tráfico</a:t>
            </a:r>
            <a:r>
              <a:rPr lang="pt-BR" sz="1600" dirty="0" smtClean="0"/>
              <a:t>.</a:t>
            </a:r>
            <a:endParaRPr lang="pt-BR" sz="1600" dirty="0"/>
          </a:p>
          <a:p>
            <a:pPr marL="285750" indent="-285750">
              <a:buFont typeface="Arial" panose="020B0604020202020204" pitchFamily="34" charset="0"/>
              <a:buChar char="•"/>
            </a:pPr>
            <a:r>
              <a:rPr lang="pt-BR" sz="1600" dirty="0"/>
              <a:t>Dados de 24.215 ocorrências de tiroteios foram extraídos da plataforma colaborativa Fogo Cruzado (2016‑2023), classificando tipo de crime, gênero e idade das vítimas</a:t>
            </a:r>
            <a:r>
              <a:rPr lang="pt-BR" sz="1600" dirty="0" smtClean="0"/>
              <a:t>.</a:t>
            </a:r>
            <a:endParaRPr lang="pt-BR" sz="1600" dirty="0"/>
          </a:p>
          <a:p>
            <a:pPr marL="285750" indent="-285750">
              <a:buFont typeface="Arial" panose="020B0604020202020204" pitchFamily="34" charset="0"/>
              <a:buChar char="•"/>
            </a:pPr>
            <a:r>
              <a:rPr lang="pt-BR" sz="1600" dirty="0"/>
              <a:t>Áreas de disputa territorial entre grupos armados foram mapeadas por institutos locais de pesquisa</a:t>
            </a:r>
            <a:r>
              <a:rPr lang="pt-BR" sz="1600" dirty="0" smtClean="0"/>
              <a:t>.</a:t>
            </a:r>
          </a:p>
          <a:p>
            <a:endParaRPr lang="pt-BR" sz="1600" dirty="0" smtClean="0"/>
          </a:p>
          <a:p>
            <a:r>
              <a:rPr lang="pt-BR" sz="1400" i="1" dirty="0" smtClean="0"/>
              <a:t>OBSERVAÇÃO</a:t>
            </a:r>
            <a:r>
              <a:rPr lang="pt-BR" sz="1400" i="1" dirty="0"/>
              <a:t>: Para superar a restrição de dados agregados, os autores aplicam </a:t>
            </a:r>
            <a:r>
              <a:rPr lang="pt-BR" sz="1400" i="1" dirty="0" err="1"/>
              <a:t>GeoAI</a:t>
            </a:r>
            <a:r>
              <a:rPr lang="pt-BR" sz="1400" i="1" dirty="0"/>
              <a:t>: crimes oficiais são redistribuídos para uma grade de 200 m usando dados auxiliares de desigualdade social, scores de percepção de segurança derivados de imagens de rua e presença de grupos armados. O resultado é um índice de crime ao nível de via pública.</a:t>
            </a:r>
            <a:endParaRPr lang="pt-BR" sz="1400" i="1" dirty="0" smtClean="0"/>
          </a:p>
        </p:txBody>
      </p:sp>
      <p:sp>
        <p:nvSpPr>
          <p:cNvPr id="5"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3">
                  <a:extLst>
                    <a:ext uri="{A12FA001-AC4F-418D-AE19-62706E023703}">
                      <ahyp:hlinkClr xmlns:ahyp="http://schemas.microsoft.com/office/drawing/2018/hyperlinkcolor" xmlns="" val="tx"/>
                    </a:ext>
                  </a:extLst>
                </a:hlinkClick>
              </a:rPr>
              <a:t>[31]</a:t>
            </a:r>
            <a:endParaRPr lang="en-US" sz="600" dirty="0"/>
          </a:p>
        </p:txBody>
      </p:sp>
    </p:spTree>
    <p:extLst>
      <p:ext uri="{BB962C8B-B14F-4D97-AF65-F5344CB8AC3E}">
        <p14:creationId xmlns:p14="http://schemas.microsoft.com/office/powerpoint/2010/main" val="31803144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r>
              <a:rPr lang="en-US" sz="2000" dirty="0"/>
              <a:t>“Crime-associated inequality in geographical access to education: Insights from Rio de Janeiro” (Knoblauch et al., 2025),</a:t>
            </a:r>
            <a:endParaRPr lang="en-US" sz="2000" dirty="0"/>
          </a:p>
        </p:txBody>
      </p:sp>
      <p:sp>
        <p:nvSpPr>
          <p:cNvPr id="4" name="Text 1"/>
          <p:cNvSpPr/>
          <p:nvPr/>
        </p:nvSpPr>
        <p:spPr>
          <a:xfrm>
            <a:off x="1097280" y="1097280"/>
            <a:ext cx="7772400" cy="3474720"/>
          </a:xfrm>
          <a:prstGeom prst="rect">
            <a:avLst/>
          </a:prstGeom>
          <a:noFill/>
          <a:ln/>
        </p:spPr>
        <p:txBody>
          <a:bodyPr wrap="square" rtlCol="0" anchor="ctr"/>
          <a:lstStyle/>
          <a:p>
            <a:pPr lvl="1"/>
            <a:r>
              <a:rPr lang="en-US" sz="1600" b="1" dirty="0" smtClean="0">
                <a:solidFill>
                  <a:srgbClr val="030A18"/>
                </a:solidFill>
              </a:rPr>
              <a:t>3. </a:t>
            </a:r>
            <a:r>
              <a:rPr lang="pt-BR" sz="1600" b="1" dirty="0" smtClean="0">
                <a:solidFill>
                  <a:srgbClr val="030A18"/>
                </a:solidFill>
              </a:rPr>
              <a:t>Dados </a:t>
            </a:r>
            <a:r>
              <a:rPr lang="pt-BR" sz="1600" b="1" dirty="0">
                <a:solidFill>
                  <a:srgbClr val="030A18"/>
                </a:solidFill>
              </a:rPr>
              <a:t>e métodos</a:t>
            </a:r>
            <a:endParaRPr lang="en-US" sz="1600" b="1" dirty="0" smtClean="0">
              <a:solidFill>
                <a:srgbClr val="030A18"/>
              </a:solidFill>
            </a:endParaRPr>
          </a:p>
          <a:p>
            <a:r>
              <a:rPr lang="pt-BR" sz="1600" b="1" dirty="0" smtClean="0">
                <a:solidFill>
                  <a:srgbClr val="030A18"/>
                </a:solidFill>
              </a:rPr>
              <a:t>	Roteamento </a:t>
            </a:r>
            <a:r>
              <a:rPr lang="pt-BR" sz="1600" b="1" dirty="0">
                <a:solidFill>
                  <a:srgbClr val="030A18"/>
                </a:solidFill>
              </a:rPr>
              <a:t>e simulação:</a:t>
            </a:r>
          </a:p>
          <a:p>
            <a:endParaRPr lang="pt-BR" sz="1600" b="1" dirty="0">
              <a:solidFill>
                <a:srgbClr val="030A18"/>
              </a:solidFill>
            </a:endParaRPr>
          </a:p>
          <a:p>
            <a:pPr marL="285750" indent="-285750">
              <a:buFont typeface="Arial" panose="020B0604020202020204" pitchFamily="34" charset="0"/>
              <a:buChar char="•"/>
            </a:pPr>
            <a:r>
              <a:rPr lang="pt-BR" sz="1600" b="1" dirty="0">
                <a:solidFill>
                  <a:srgbClr val="030A18"/>
                </a:solidFill>
              </a:rPr>
              <a:t>    </a:t>
            </a:r>
            <a:r>
              <a:rPr lang="pt-BR" sz="1600" dirty="0">
                <a:solidFill>
                  <a:srgbClr val="030A18"/>
                </a:solidFill>
              </a:rPr>
              <a:t>Utiliza-se o </a:t>
            </a:r>
            <a:r>
              <a:rPr lang="pt-BR" sz="1600" dirty="0" err="1">
                <a:solidFill>
                  <a:srgbClr val="030A18"/>
                </a:solidFill>
              </a:rPr>
              <a:t>OpenRouteService</a:t>
            </a:r>
            <a:r>
              <a:rPr lang="pt-BR" sz="1600" dirty="0">
                <a:solidFill>
                  <a:srgbClr val="030A18"/>
                </a:solidFill>
              </a:rPr>
              <a:t> com perfis pedestres para calcular rotas baseadas em </a:t>
            </a:r>
            <a:r>
              <a:rPr lang="pt-BR" sz="1600" dirty="0" err="1">
                <a:solidFill>
                  <a:srgbClr val="030A18"/>
                </a:solidFill>
              </a:rPr>
              <a:t>OpenStreetMap</a:t>
            </a:r>
            <a:r>
              <a:rPr lang="pt-BR" sz="1600" dirty="0">
                <a:solidFill>
                  <a:srgbClr val="030A18"/>
                </a:solidFill>
              </a:rPr>
              <a:t>; o custo da rota combina extensão do segmento e índice de crime (com peso α</a:t>
            </a:r>
            <a:r>
              <a:rPr lang="pt-BR" sz="1600" dirty="0" smtClean="0">
                <a:solidFill>
                  <a:srgbClr val="030A18"/>
                </a:solidFill>
              </a:rPr>
              <a:t>).</a:t>
            </a:r>
            <a:endParaRPr lang="pt-BR" sz="1600" dirty="0">
              <a:solidFill>
                <a:srgbClr val="030A18"/>
              </a:solidFill>
            </a:endParaRPr>
          </a:p>
          <a:p>
            <a:pPr marL="285750" indent="-285750">
              <a:buFont typeface="Arial" panose="020B0604020202020204" pitchFamily="34" charset="0"/>
              <a:buChar char="•"/>
            </a:pPr>
            <a:r>
              <a:rPr lang="pt-BR" sz="1600" dirty="0">
                <a:solidFill>
                  <a:srgbClr val="030A18"/>
                </a:solidFill>
              </a:rPr>
              <a:t>    São simuladas 11 rotas (curta e 10 com pesos crescentes de crime) para cada um dos 20.943 pontos de origem (centroides da grade de 200 m), ponderadas pelo número de jovens (1.172.758 indivíduos). Supondo que todos caminham para a escola mais próxima, geram‑se 230.373 viagens simuladas</a:t>
            </a:r>
            <a:r>
              <a:rPr lang="pt-BR" sz="1600" dirty="0" smtClean="0">
                <a:solidFill>
                  <a:srgbClr val="030A18"/>
                </a:solidFill>
              </a:rPr>
              <a:t>.</a:t>
            </a:r>
            <a:endParaRPr lang="pt-BR" sz="1600" dirty="0">
              <a:solidFill>
                <a:srgbClr val="030A18"/>
              </a:solidFill>
            </a:endParaRPr>
          </a:p>
          <a:p>
            <a:pPr marL="285750" indent="-285750">
              <a:buFont typeface="Arial" panose="020B0604020202020204" pitchFamily="34" charset="0"/>
              <a:buChar char="•"/>
            </a:pPr>
            <a:r>
              <a:rPr lang="pt-BR" sz="1600" dirty="0">
                <a:solidFill>
                  <a:srgbClr val="030A18"/>
                </a:solidFill>
              </a:rPr>
              <a:t>    O estudo classifica os segmentos viários como evitáveis, preferíveis, inevitáveis e ideais, permitindo mapear pontos de intervenção</a:t>
            </a:r>
            <a:endParaRPr lang="en-US" sz="1600" dirty="0">
              <a:solidFill>
                <a:srgbClr val="030A18"/>
              </a:solidFill>
            </a:endParaRPr>
          </a:p>
        </p:txBody>
      </p:sp>
      <p:sp>
        <p:nvSpPr>
          <p:cNvPr id="5"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3">
                  <a:extLst>
                    <a:ext uri="{A12FA001-AC4F-418D-AE19-62706E023703}">
                      <ahyp:hlinkClr xmlns:ahyp="http://schemas.microsoft.com/office/drawing/2018/hyperlinkcolor" xmlns="" val="tx"/>
                    </a:ext>
                  </a:extLst>
                </a:hlinkClick>
              </a:rPr>
              <a:t>[31]</a:t>
            </a:r>
            <a:endParaRPr lang="en-US" sz="600" dirty="0"/>
          </a:p>
        </p:txBody>
      </p:sp>
    </p:spTree>
    <p:extLst>
      <p:ext uri="{BB962C8B-B14F-4D97-AF65-F5344CB8AC3E}">
        <p14:creationId xmlns:p14="http://schemas.microsoft.com/office/powerpoint/2010/main" val="22586246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r>
              <a:rPr lang="en-US" sz="2000" dirty="0"/>
              <a:t>“Crime-associated inequality in geographical access to education: Insights from Rio de Janeiro” (Knoblauch et al., 2025),</a:t>
            </a:r>
            <a:endParaRPr lang="en-US" sz="2000" dirty="0"/>
          </a:p>
        </p:txBody>
      </p:sp>
      <p:sp>
        <p:nvSpPr>
          <p:cNvPr id="4" name="Text 1"/>
          <p:cNvSpPr/>
          <p:nvPr/>
        </p:nvSpPr>
        <p:spPr>
          <a:xfrm>
            <a:off x="1097280" y="1097280"/>
            <a:ext cx="7772400" cy="3474720"/>
          </a:xfrm>
          <a:prstGeom prst="rect">
            <a:avLst/>
          </a:prstGeom>
          <a:noFill/>
          <a:ln/>
        </p:spPr>
        <p:txBody>
          <a:bodyPr wrap="square" rtlCol="0" anchor="ctr"/>
          <a:lstStyle/>
          <a:p>
            <a:pPr lvl="1"/>
            <a:r>
              <a:rPr lang="en-US" sz="1400" b="1" dirty="0">
                <a:solidFill>
                  <a:srgbClr val="030A18"/>
                </a:solidFill>
              </a:rPr>
              <a:t>4. </a:t>
            </a:r>
            <a:r>
              <a:rPr lang="en-US" sz="1400" b="1" dirty="0" err="1">
                <a:solidFill>
                  <a:srgbClr val="030A18"/>
                </a:solidFill>
              </a:rPr>
              <a:t>Resultados</a:t>
            </a:r>
            <a:r>
              <a:rPr lang="en-US" sz="1400" b="1" dirty="0">
                <a:solidFill>
                  <a:srgbClr val="030A18"/>
                </a:solidFill>
              </a:rPr>
              <a:t> </a:t>
            </a:r>
            <a:r>
              <a:rPr lang="en-US" sz="1400" b="1" dirty="0" err="1" smtClean="0">
                <a:solidFill>
                  <a:srgbClr val="030A18"/>
                </a:solidFill>
              </a:rPr>
              <a:t>principais</a:t>
            </a:r>
            <a:endParaRPr lang="en-US" sz="1400" b="1" dirty="0" smtClean="0">
              <a:solidFill>
                <a:srgbClr val="030A18"/>
              </a:solidFill>
            </a:endParaRPr>
          </a:p>
          <a:p>
            <a:pPr lvl="1"/>
            <a:endParaRPr lang="en-US" sz="1400" b="1" dirty="0" smtClean="0">
              <a:solidFill>
                <a:srgbClr val="030A18"/>
              </a:solidFill>
            </a:endParaRPr>
          </a:p>
          <a:p>
            <a:pPr marL="342900" indent="-342900">
              <a:buFont typeface="+mj-lt"/>
              <a:buAutoNum type="arabicPeriod"/>
            </a:pPr>
            <a:r>
              <a:rPr lang="pt-BR" sz="1400" b="1" dirty="0"/>
              <a:t>Aumento do tempo de deslocamento:</a:t>
            </a:r>
            <a:r>
              <a:rPr lang="pt-BR" sz="1400" dirty="0"/>
              <a:t> evitar áreas violentas aumenta em média 48,60 % o tempo até a escola mais próxima.</a:t>
            </a:r>
          </a:p>
          <a:p>
            <a:pPr marL="342900" indent="-342900">
              <a:buFont typeface="+mj-lt"/>
              <a:buAutoNum type="arabicPeriod"/>
            </a:pPr>
            <a:r>
              <a:rPr lang="pt-BR" sz="1400" b="1" dirty="0"/>
              <a:t>Redução de exposição ao crime:</a:t>
            </a:r>
            <a:r>
              <a:rPr lang="pt-BR" sz="1400" dirty="0"/>
              <a:t> para alunos cujas rotas passam por zonas de disputa ou alta criminalidade, o tempo adicional reduz a exposição média ao crime em 44,10 % e a exposição máxima em 81,94 %.</a:t>
            </a:r>
          </a:p>
          <a:p>
            <a:pPr marL="342900" indent="-342900">
              <a:buFont typeface="+mj-lt"/>
              <a:buAutoNum type="arabicPeriod"/>
            </a:pPr>
            <a:r>
              <a:rPr lang="pt-BR" sz="1400" b="1" dirty="0"/>
              <a:t>Distribuição espacial:</a:t>
            </a:r>
            <a:r>
              <a:rPr lang="pt-BR" sz="1400" dirty="0"/>
              <a:t> 73,49 % das viagens simuladas duram de 0 a 10 minutos; 94,21 % duram até 20 minutos, mas 5,79 % superam esse limite, sobretudo em áreas periféricas com menor densidade escolar.</a:t>
            </a:r>
          </a:p>
          <a:p>
            <a:pPr marL="342900" indent="-342900">
              <a:buFont typeface="+mj-lt"/>
              <a:buAutoNum type="arabicPeriod"/>
            </a:pPr>
            <a:r>
              <a:rPr lang="pt-BR" sz="1400" b="1" dirty="0" err="1"/>
              <a:t>Detours</a:t>
            </a:r>
            <a:r>
              <a:rPr lang="pt-BR" sz="1400" b="1" dirty="0"/>
              <a:t> e aversão ao risco:</a:t>
            </a:r>
            <a:r>
              <a:rPr lang="pt-BR" sz="1400" dirty="0"/>
              <a:t> com alto peso de crime (α=1), 8,4 % das rotas exigem desvios. A variação do aumento de tempo não depende do tempo inicial até a escola.</a:t>
            </a:r>
          </a:p>
          <a:p>
            <a:pPr marL="342900" indent="-342900">
              <a:buFont typeface="+mj-lt"/>
              <a:buAutoNum type="arabicPeriod"/>
            </a:pPr>
            <a:r>
              <a:rPr lang="pt-BR" sz="1400" b="1" dirty="0"/>
              <a:t>Exposição relativa:</a:t>
            </a:r>
            <a:r>
              <a:rPr lang="pt-BR" sz="1400" dirty="0"/>
              <a:t> 7,99 % dos desvios reduzem a exposição média ao crime e 3,80 % reduzem a exposição máxima; porém, a maioria dos desvios não altera a exposição.</a:t>
            </a:r>
          </a:p>
          <a:p>
            <a:pPr marL="342900" indent="-342900">
              <a:buFont typeface="+mj-lt"/>
              <a:buAutoNum type="arabicPeriod"/>
            </a:pPr>
            <a:r>
              <a:rPr lang="pt-BR" sz="1400" b="1" dirty="0"/>
              <a:t>Segmentos viários:</a:t>
            </a:r>
            <a:r>
              <a:rPr lang="pt-BR" sz="1400" dirty="0"/>
              <a:t> apenas 0,38 % das vias são “inevitáveis” (curtas e perigosas), enquanto 87,32 % são “ideais” (curtas e seguras).</a:t>
            </a:r>
          </a:p>
          <a:p>
            <a:pPr marL="742950" lvl="1" indent="-285750">
              <a:buFont typeface="Arial" panose="020B0604020202020204" pitchFamily="34" charset="0"/>
              <a:buChar char="•"/>
            </a:pPr>
            <a:endParaRPr lang="en-US" sz="1600" b="1" dirty="0">
              <a:solidFill>
                <a:srgbClr val="030A18"/>
              </a:solidFill>
            </a:endParaRPr>
          </a:p>
        </p:txBody>
      </p:sp>
      <p:sp>
        <p:nvSpPr>
          <p:cNvPr id="5"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3">
                  <a:extLst>
                    <a:ext uri="{A12FA001-AC4F-418D-AE19-62706E023703}">
                      <ahyp:hlinkClr xmlns:ahyp="http://schemas.microsoft.com/office/drawing/2018/hyperlinkcolor" xmlns="" val="tx"/>
                    </a:ext>
                  </a:extLst>
                </a:hlinkClick>
              </a:rPr>
              <a:t>[31]</a:t>
            </a:r>
            <a:endParaRPr lang="en-US" sz="600" dirty="0"/>
          </a:p>
        </p:txBody>
      </p:sp>
    </p:spTree>
    <p:extLst>
      <p:ext uri="{BB962C8B-B14F-4D97-AF65-F5344CB8AC3E}">
        <p14:creationId xmlns:p14="http://schemas.microsoft.com/office/powerpoint/2010/main" val="17877346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r>
              <a:rPr lang="en-US" sz="2000" dirty="0"/>
              <a:t>“Crime-associated inequality in geographical access to education: Insights from Rio de Janeiro” (Knoblauch et al., 2025),</a:t>
            </a:r>
            <a:endParaRPr lang="en-US" sz="2000" dirty="0"/>
          </a:p>
        </p:txBody>
      </p:sp>
      <p:sp>
        <p:nvSpPr>
          <p:cNvPr id="4" name="Text 1"/>
          <p:cNvSpPr/>
          <p:nvPr/>
        </p:nvSpPr>
        <p:spPr>
          <a:xfrm>
            <a:off x="1097280" y="1097280"/>
            <a:ext cx="7772400" cy="3474720"/>
          </a:xfrm>
          <a:prstGeom prst="rect">
            <a:avLst/>
          </a:prstGeom>
          <a:noFill/>
          <a:ln/>
        </p:spPr>
        <p:txBody>
          <a:bodyPr wrap="square" rtlCol="0" anchor="ctr"/>
          <a:lstStyle/>
          <a:p>
            <a:pPr lvl="1"/>
            <a:r>
              <a:rPr lang="en-US" sz="1400" b="1" dirty="0">
                <a:solidFill>
                  <a:srgbClr val="030A18"/>
                </a:solidFill>
              </a:rPr>
              <a:t>4. </a:t>
            </a:r>
            <a:r>
              <a:rPr lang="en-US" sz="1400" b="1" dirty="0" err="1" smtClean="0">
                <a:solidFill>
                  <a:srgbClr val="030A18"/>
                </a:solidFill>
              </a:rPr>
              <a:t>Considerações</a:t>
            </a:r>
            <a:r>
              <a:rPr lang="en-US" sz="1400" b="1" dirty="0" smtClean="0">
                <a:solidFill>
                  <a:srgbClr val="030A18"/>
                </a:solidFill>
              </a:rPr>
              <a:t> </a:t>
            </a:r>
            <a:r>
              <a:rPr lang="en-US" sz="1400" b="1" dirty="0" err="1" smtClean="0">
                <a:solidFill>
                  <a:srgbClr val="030A18"/>
                </a:solidFill>
              </a:rPr>
              <a:t>Finais</a:t>
            </a:r>
            <a:endParaRPr lang="en-US" sz="1400" b="1" dirty="0" smtClean="0">
              <a:solidFill>
                <a:srgbClr val="030A18"/>
              </a:solidFill>
            </a:endParaRPr>
          </a:p>
          <a:p>
            <a:pPr lvl="1"/>
            <a:endParaRPr lang="en-US" sz="1400" b="1" dirty="0" smtClean="0">
              <a:solidFill>
                <a:srgbClr val="030A18"/>
              </a:solidFill>
            </a:endParaRPr>
          </a:p>
          <a:p>
            <a:pPr marL="742950" lvl="1" indent="-285750">
              <a:buFont typeface="Arial" panose="020B0604020202020204" pitchFamily="34" charset="0"/>
              <a:buChar char="•"/>
            </a:pPr>
            <a:r>
              <a:rPr lang="pt-BR" sz="1600" dirty="0"/>
              <a:t>O estudo conclui que a violência urbana impõe obstáculos significativos e geograficamente concentrados ao acesso educacional, reforçando </a:t>
            </a:r>
            <a:r>
              <a:rPr lang="pt-BR" sz="1600" dirty="0" smtClean="0"/>
              <a:t>desigualdades.</a:t>
            </a:r>
          </a:p>
          <a:p>
            <a:pPr marL="742950" lvl="1" indent="-285750">
              <a:buFont typeface="Arial" panose="020B0604020202020204" pitchFamily="34" charset="0"/>
              <a:buChar char="•"/>
            </a:pPr>
            <a:r>
              <a:rPr lang="pt-BR" sz="1600" dirty="0" smtClean="0"/>
              <a:t>Argumenta </a:t>
            </a:r>
            <a:r>
              <a:rPr lang="pt-BR" sz="1600" dirty="0"/>
              <a:t>que políticas educacionais devem integrar critérios de segurança na distribuição de escolas e no planejamento de transporte, melhorando a segurança em trajetos inevitáveis e oferecendo alternativas de mobilidade em áreas perigosas. </a:t>
            </a:r>
            <a:endParaRPr lang="pt-BR" sz="1600" dirty="0" smtClean="0"/>
          </a:p>
          <a:p>
            <a:pPr marL="742950" lvl="1" indent="-285750">
              <a:buFont typeface="Arial" panose="020B0604020202020204" pitchFamily="34" charset="0"/>
              <a:buChar char="•"/>
            </a:pPr>
            <a:r>
              <a:rPr lang="pt-BR" sz="1600" dirty="0" smtClean="0"/>
              <a:t>O </a:t>
            </a:r>
            <a:r>
              <a:rPr lang="pt-BR" sz="1600" dirty="0"/>
              <a:t>método proposto é escalável para outros serviços públicos e sugere aprimoramentos futuros: dados de crime em tempo real, perfis de risco personalizados, inclusão de diferentes modos de transporte, consideração de níveis educacionais distintos e adaptação a contextos locais.</a:t>
            </a:r>
            <a:endParaRPr lang="en-US" sz="1600" b="1" dirty="0">
              <a:solidFill>
                <a:srgbClr val="030A18"/>
              </a:solidFill>
            </a:endParaRPr>
          </a:p>
        </p:txBody>
      </p:sp>
      <p:sp>
        <p:nvSpPr>
          <p:cNvPr id="5"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3">
                  <a:extLst>
                    <a:ext uri="{A12FA001-AC4F-418D-AE19-62706E023703}">
                      <ahyp:hlinkClr xmlns:ahyp="http://schemas.microsoft.com/office/drawing/2018/hyperlinkcolor" xmlns="" val="tx"/>
                    </a:ext>
                  </a:extLst>
                </a:hlinkClick>
              </a:rPr>
              <a:t>[31]</a:t>
            </a:r>
            <a:endParaRPr lang="en-US" sz="600" dirty="0"/>
          </a:p>
        </p:txBody>
      </p:sp>
    </p:spTree>
    <p:extLst>
      <p:ext uri="{BB962C8B-B14F-4D97-AF65-F5344CB8AC3E}">
        <p14:creationId xmlns:p14="http://schemas.microsoft.com/office/powerpoint/2010/main" val="6609203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r>
              <a:rPr lang="en-US" sz="2000" dirty="0"/>
              <a:t>“Crime-associated inequality in geographical access to education: Insights from Rio de Janeiro” (Knoblauch et al., 2025),</a:t>
            </a:r>
            <a:endParaRPr lang="en-US" sz="2000" dirty="0"/>
          </a:p>
        </p:txBody>
      </p:sp>
      <p:sp>
        <p:nvSpPr>
          <p:cNvPr id="4" name="Text 1"/>
          <p:cNvSpPr/>
          <p:nvPr/>
        </p:nvSpPr>
        <p:spPr>
          <a:xfrm>
            <a:off x="1097280" y="1097280"/>
            <a:ext cx="7772400" cy="3474720"/>
          </a:xfrm>
          <a:prstGeom prst="rect">
            <a:avLst/>
          </a:prstGeom>
          <a:noFill/>
          <a:ln/>
        </p:spPr>
        <p:txBody>
          <a:bodyPr wrap="square" rtlCol="0" anchor="ctr"/>
          <a:lstStyle/>
          <a:p>
            <a:pPr lvl="1"/>
            <a:r>
              <a:rPr lang="en-US" sz="1400" b="1" dirty="0" smtClean="0">
                <a:solidFill>
                  <a:srgbClr val="030A18"/>
                </a:solidFill>
              </a:rPr>
              <a:t>5. </a:t>
            </a:r>
            <a:r>
              <a:rPr lang="en-US" sz="1400" b="1" dirty="0" err="1" smtClean="0">
                <a:solidFill>
                  <a:srgbClr val="030A18"/>
                </a:solidFill>
              </a:rPr>
              <a:t>Contribuições</a:t>
            </a:r>
            <a:r>
              <a:rPr lang="en-US" sz="1400" b="1" dirty="0" smtClean="0">
                <a:solidFill>
                  <a:srgbClr val="030A18"/>
                </a:solidFill>
              </a:rPr>
              <a:t>, </a:t>
            </a:r>
            <a:r>
              <a:rPr lang="en-US" sz="1400" b="1" dirty="0" err="1" smtClean="0">
                <a:solidFill>
                  <a:srgbClr val="030A18"/>
                </a:solidFill>
              </a:rPr>
              <a:t>Limites</a:t>
            </a:r>
            <a:r>
              <a:rPr lang="en-US" sz="1400" b="1" dirty="0" smtClean="0">
                <a:solidFill>
                  <a:srgbClr val="030A18"/>
                </a:solidFill>
              </a:rPr>
              <a:t> e </a:t>
            </a:r>
            <a:r>
              <a:rPr lang="en-US" sz="1400" b="1" dirty="0" err="1" smtClean="0">
                <a:solidFill>
                  <a:srgbClr val="030A18"/>
                </a:solidFill>
              </a:rPr>
              <a:t>Sugestões</a:t>
            </a:r>
            <a:r>
              <a:rPr lang="en-US" sz="1400" b="1" dirty="0" smtClean="0">
                <a:solidFill>
                  <a:srgbClr val="030A18"/>
                </a:solidFill>
              </a:rPr>
              <a:t> de </a:t>
            </a:r>
            <a:r>
              <a:rPr lang="en-US" sz="1400" b="1" dirty="0" err="1" smtClean="0">
                <a:solidFill>
                  <a:srgbClr val="030A18"/>
                </a:solidFill>
              </a:rPr>
              <a:t>Aperfeçoamento</a:t>
            </a:r>
            <a:endParaRPr lang="pt-BR" sz="1200" dirty="0"/>
          </a:p>
          <a:p>
            <a:pPr marL="742950" lvl="1" indent="-285750">
              <a:buFont typeface="Arial" panose="020B0604020202020204" pitchFamily="34" charset="0"/>
              <a:buChar char="•"/>
            </a:pPr>
            <a:endParaRPr lang="pt-BR" sz="1200" dirty="0"/>
          </a:p>
          <a:p>
            <a:pPr marL="742950" lvl="1" indent="-285750">
              <a:buFont typeface="Arial" panose="020B0604020202020204" pitchFamily="34" charset="0"/>
              <a:buChar char="•"/>
            </a:pPr>
            <a:r>
              <a:rPr lang="pt-BR" sz="1200" dirty="0"/>
              <a:t>    Contribuição metodológica inovadora – O uso de </a:t>
            </a:r>
            <a:r>
              <a:rPr lang="pt-BR" sz="1200" dirty="0" err="1"/>
              <a:t>GeoAI</a:t>
            </a:r>
            <a:r>
              <a:rPr lang="pt-BR" sz="1200" dirty="0"/>
              <a:t> para desagregar estatísticas de crime e o modelo de roteamento com diferentes níveis de aversão ao risco representam avanços para medir impactos territoriais de violência em políticas sociais. Essa abordagem permite identificar segmentos viários críticos, orientando intervenções</a:t>
            </a:r>
            <a:r>
              <a:rPr lang="pt-BR" sz="1200" dirty="0" smtClean="0"/>
              <a:t>.</a:t>
            </a:r>
            <a:endParaRPr lang="pt-BR" sz="1200" dirty="0"/>
          </a:p>
          <a:p>
            <a:pPr marL="742950" lvl="1" indent="-285750">
              <a:buFont typeface="Arial" panose="020B0604020202020204" pitchFamily="34" charset="0"/>
              <a:buChar char="•"/>
            </a:pPr>
            <a:r>
              <a:rPr lang="pt-BR" sz="1200" dirty="0"/>
              <a:t>    Integração de bases diversas – A combinação de dados oficiais, </a:t>
            </a:r>
            <a:r>
              <a:rPr lang="pt-BR" sz="1200" dirty="0" err="1"/>
              <a:t>crowdsourcing</a:t>
            </a:r>
            <a:r>
              <a:rPr lang="pt-BR" sz="1200" dirty="0"/>
              <a:t> e indicadores socioeconômicos aumenta a granularidade do índice de crime e demonstra o potencial de Big Data para estudos de acessibilidade</a:t>
            </a:r>
            <a:r>
              <a:rPr lang="pt-BR" sz="1200" dirty="0" smtClean="0"/>
              <a:t>.</a:t>
            </a:r>
            <a:endParaRPr lang="pt-BR" sz="1200" dirty="0"/>
          </a:p>
          <a:p>
            <a:pPr marL="742950" lvl="1" indent="-285750">
              <a:buFont typeface="Arial" panose="020B0604020202020204" pitchFamily="34" charset="0"/>
              <a:buChar char="•"/>
            </a:pPr>
            <a:r>
              <a:rPr lang="pt-BR" sz="1200" dirty="0"/>
              <a:t>    Foco em desigualdades </a:t>
            </a:r>
            <a:r>
              <a:rPr lang="pt-BR" sz="1200" dirty="0" err="1"/>
              <a:t>intraurbanas</a:t>
            </a:r>
            <a:r>
              <a:rPr lang="pt-BR" sz="1200" dirty="0"/>
              <a:t> – O estudo mostra claramente que penalidades de tempo são maiores em áreas periféricas e em torno de zonas de conflito, evidenciando como violência e desigualdade espacial estão associadas</a:t>
            </a:r>
            <a:r>
              <a:rPr lang="pt-BR" sz="1200" dirty="0" smtClean="0"/>
              <a:t>.</a:t>
            </a:r>
            <a:endParaRPr lang="pt-BR" sz="1200" dirty="0"/>
          </a:p>
          <a:p>
            <a:pPr marL="742950" lvl="1" indent="-285750">
              <a:buFont typeface="Arial" panose="020B0604020202020204" pitchFamily="34" charset="0"/>
              <a:buChar char="•"/>
            </a:pPr>
            <a:r>
              <a:rPr lang="pt-BR" sz="1200" dirty="0"/>
              <a:t>    Relevância para políticas públicas – Ao quantificar trade-</a:t>
            </a:r>
            <a:r>
              <a:rPr lang="pt-BR" sz="1200" dirty="0" err="1"/>
              <a:t>offs</a:t>
            </a:r>
            <a:r>
              <a:rPr lang="pt-BR" sz="1200" dirty="0"/>
              <a:t> entre segurança e tempo de deslocamento, a pesquisa oferece insumos concretos para planejamento educacional e urbano, ajudando a priorizar rotas, investimentos em infraestrutura e segurança pública.</a:t>
            </a:r>
            <a:endParaRPr lang="en-US" sz="1200" b="1" dirty="0">
              <a:solidFill>
                <a:srgbClr val="030A18"/>
              </a:solidFill>
            </a:endParaRPr>
          </a:p>
        </p:txBody>
      </p:sp>
      <p:sp>
        <p:nvSpPr>
          <p:cNvPr id="5"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3">
                  <a:extLst>
                    <a:ext uri="{A12FA001-AC4F-418D-AE19-62706E023703}">
                      <ahyp:hlinkClr xmlns:ahyp="http://schemas.microsoft.com/office/drawing/2018/hyperlinkcolor" xmlns="" val="tx"/>
                    </a:ext>
                  </a:extLst>
                </a:hlinkClick>
              </a:rPr>
              <a:t>[31]</a:t>
            </a:r>
            <a:endParaRPr lang="en-US" sz="600" dirty="0"/>
          </a:p>
        </p:txBody>
      </p:sp>
    </p:spTree>
    <p:extLst>
      <p:ext uri="{BB962C8B-B14F-4D97-AF65-F5344CB8AC3E}">
        <p14:creationId xmlns:p14="http://schemas.microsoft.com/office/powerpoint/2010/main" val="29638030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r>
              <a:rPr lang="en-US" sz="2000" dirty="0"/>
              <a:t>“Crime-associated inequality in geographical access to education: Insights from Rio de Janeiro” (Knoblauch et al., 2025),</a:t>
            </a:r>
            <a:endParaRPr lang="en-US" sz="2000" dirty="0"/>
          </a:p>
        </p:txBody>
      </p:sp>
      <p:sp>
        <p:nvSpPr>
          <p:cNvPr id="4" name="Text 1"/>
          <p:cNvSpPr/>
          <p:nvPr/>
        </p:nvSpPr>
        <p:spPr>
          <a:xfrm>
            <a:off x="1097280" y="1097280"/>
            <a:ext cx="7772400" cy="3474720"/>
          </a:xfrm>
          <a:prstGeom prst="rect">
            <a:avLst/>
          </a:prstGeom>
          <a:noFill/>
          <a:ln/>
        </p:spPr>
        <p:txBody>
          <a:bodyPr wrap="square" rtlCol="0" anchor="ctr"/>
          <a:lstStyle/>
          <a:p>
            <a:pPr lvl="1"/>
            <a:r>
              <a:rPr lang="en-US" sz="1400" b="1" dirty="0" smtClean="0">
                <a:solidFill>
                  <a:srgbClr val="030A18"/>
                </a:solidFill>
              </a:rPr>
              <a:t>5. </a:t>
            </a:r>
            <a:r>
              <a:rPr lang="en-US" sz="1400" b="1" dirty="0" err="1" smtClean="0">
                <a:solidFill>
                  <a:srgbClr val="030A18"/>
                </a:solidFill>
              </a:rPr>
              <a:t>Contribuições</a:t>
            </a:r>
            <a:r>
              <a:rPr lang="en-US" sz="1400" b="1" dirty="0" smtClean="0">
                <a:solidFill>
                  <a:srgbClr val="030A18"/>
                </a:solidFill>
              </a:rPr>
              <a:t>, </a:t>
            </a:r>
            <a:r>
              <a:rPr lang="en-US" sz="1400" b="1" dirty="0" err="1" smtClean="0">
                <a:solidFill>
                  <a:srgbClr val="030A18"/>
                </a:solidFill>
              </a:rPr>
              <a:t>Limites</a:t>
            </a:r>
            <a:r>
              <a:rPr lang="en-US" sz="1400" b="1" dirty="0" smtClean="0">
                <a:solidFill>
                  <a:srgbClr val="030A18"/>
                </a:solidFill>
              </a:rPr>
              <a:t> e </a:t>
            </a:r>
            <a:r>
              <a:rPr lang="en-US" sz="1400" b="1" dirty="0" err="1" smtClean="0">
                <a:solidFill>
                  <a:srgbClr val="030A18"/>
                </a:solidFill>
              </a:rPr>
              <a:t>Sugestões</a:t>
            </a:r>
            <a:r>
              <a:rPr lang="en-US" sz="1400" b="1" dirty="0" smtClean="0">
                <a:solidFill>
                  <a:srgbClr val="030A18"/>
                </a:solidFill>
              </a:rPr>
              <a:t> de </a:t>
            </a:r>
            <a:r>
              <a:rPr lang="en-US" sz="1400" b="1" dirty="0" err="1" smtClean="0">
                <a:solidFill>
                  <a:srgbClr val="030A18"/>
                </a:solidFill>
              </a:rPr>
              <a:t>Aperfeçoamento</a:t>
            </a:r>
            <a:endParaRPr lang="pt-BR" sz="1200" dirty="0"/>
          </a:p>
          <a:p>
            <a:pPr marL="742950" lvl="1" indent="-285750">
              <a:buFont typeface="Arial" panose="020B0604020202020204" pitchFamily="34" charset="0"/>
              <a:buChar char="•"/>
            </a:pPr>
            <a:endParaRPr lang="pt-BR" sz="1200" dirty="0"/>
          </a:p>
          <a:p>
            <a:pPr marL="742950" lvl="1" indent="-285750">
              <a:buFont typeface="Arial" panose="020B0604020202020204" pitchFamily="34" charset="0"/>
              <a:buChar char="•"/>
            </a:pPr>
            <a:r>
              <a:rPr lang="pt-BR" sz="1000" dirty="0" smtClean="0"/>
              <a:t>Ausência </a:t>
            </a:r>
            <a:r>
              <a:rPr lang="pt-BR" sz="1000" dirty="0"/>
              <a:t>de identificação causal – O artigo mede associações entre crime e tempo de viagem, mas não identifica efeitos causais sobre frequência escolar ou desempenho. Como economistas, sabemos que aumentos de tempo podem ou não impactar resultados educativos; experimentos naturais ou modelos de econometria espacial poderiam avançar a discussão. Por exemplo, regressões de descontinuidade espacial em torno de territórios em disputa ou </a:t>
            </a:r>
            <a:r>
              <a:rPr lang="pt-BR" sz="1000" dirty="0" err="1"/>
              <a:t>panel</a:t>
            </a:r>
            <a:r>
              <a:rPr lang="pt-BR" sz="1000" dirty="0"/>
              <a:t> data de frequência escolar poderiam testar se alunos de áreas afetadas apresentam maior abandono.</a:t>
            </a:r>
          </a:p>
          <a:p>
            <a:pPr lvl="1"/>
            <a:endParaRPr lang="pt-BR" sz="1000" dirty="0"/>
          </a:p>
          <a:p>
            <a:pPr marL="742950" lvl="1" indent="-285750">
              <a:buFont typeface="Arial" panose="020B0604020202020204" pitchFamily="34" charset="0"/>
              <a:buChar char="•"/>
            </a:pPr>
            <a:r>
              <a:rPr lang="pt-BR" sz="1000" dirty="0"/>
              <a:t>Suposições simplificadoras – Assumir que todos caminham até a escola mais próxima ignora a heterogeneidade de escolhas e de modos de transporte. Estudos mostram que famílias podem optar por escolas de melhor qualidade fora da vizinhança e que o transporte público ou escolar é relevante, especialmente para alunos de renda média. Integrar dados de matrículas ou trajetos reais (p. ex. GPS de ônibus escolares) melhoraria a validade externa.</a:t>
            </a:r>
          </a:p>
          <a:p>
            <a:pPr lvl="1"/>
            <a:endParaRPr lang="pt-BR" sz="1000" dirty="0"/>
          </a:p>
          <a:p>
            <a:pPr marL="742950" lvl="1" indent="-285750">
              <a:buFont typeface="Arial" panose="020B0604020202020204" pitchFamily="34" charset="0"/>
              <a:buChar char="•"/>
            </a:pPr>
            <a:r>
              <a:rPr lang="pt-BR" sz="1000" dirty="0"/>
              <a:t>Peso uniforme para crimes – A atribuição igualitária entre tipos de crime subestima diferenças de gravidade; homicídios e balas perdidas têm maior efeito de repulsão do que furtos. Métodos de ponderação com base na severidade ou na percepção de risco poderiam gerar um índice mais fiel</a:t>
            </a:r>
            <a:r>
              <a:rPr lang="pt-BR" sz="1000" dirty="0" smtClean="0"/>
              <a:t>.</a:t>
            </a:r>
          </a:p>
          <a:p>
            <a:pPr marL="742950" lvl="1" indent="-285750">
              <a:buFont typeface="Arial" panose="020B0604020202020204" pitchFamily="34" charset="0"/>
              <a:buChar char="•"/>
            </a:pPr>
            <a:endParaRPr lang="pt-BR" sz="1000" dirty="0"/>
          </a:p>
          <a:p>
            <a:pPr marL="742950" lvl="1" indent="-285750">
              <a:buFont typeface="Arial" panose="020B0604020202020204" pitchFamily="34" charset="0"/>
              <a:buChar char="•"/>
            </a:pPr>
            <a:r>
              <a:rPr lang="pt-BR" sz="1000" dirty="0"/>
              <a:t>Dependência do grid de 200 m e do MAUP – A escolha do tamanho da grade influencia resultados; uma análise de sensibilidade comparando diferentes resoluções (p. ex. 100 m, 500 m) permitiria verificar robustez.</a:t>
            </a:r>
          </a:p>
          <a:p>
            <a:pPr marL="742950" lvl="1" indent="-285750">
              <a:buFont typeface="Arial" panose="020B0604020202020204" pitchFamily="34" charset="0"/>
              <a:buChar char="•"/>
            </a:pPr>
            <a:endParaRPr lang="pt-BR" sz="1000" dirty="0"/>
          </a:p>
          <a:p>
            <a:pPr marL="742950" lvl="1" indent="-285750">
              <a:buFont typeface="Arial" panose="020B0604020202020204" pitchFamily="34" charset="0"/>
              <a:buChar char="•"/>
            </a:pPr>
            <a:r>
              <a:rPr lang="pt-BR" sz="1000" dirty="0"/>
              <a:t>Desconsideração de dinâmicas temporais – A criminalidade é instável e sazonal; usar séries temporais ou dados em tempo real poderia capturar deslocamentos de </a:t>
            </a:r>
            <a:r>
              <a:rPr lang="pt-BR" sz="1000" dirty="0" err="1"/>
              <a:t>hotspots</a:t>
            </a:r>
            <a:r>
              <a:rPr lang="pt-BR" sz="1000" dirty="0"/>
              <a:t> e melhorar </a:t>
            </a:r>
            <a:r>
              <a:rPr lang="pt-BR" sz="1000" dirty="0" err="1"/>
              <a:t>previsõe</a:t>
            </a:r>
            <a:endParaRPr lang="en-US" sz="1000" b="1" dirty="0">
              <a:solidFill>
                <a:srgbClr val="030A18"/>
              </a:solidFill>
            </a:endParaRPr>
          </a:p>
        </p:txBody>
      </p:sp>
      <p:sp>
        <p:nvSpPr>
          <p:cNvPr id="5"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3">
                  <a:extLst>
                    <a:ext uri="{A12FA001-AC4F-418D-AE19-62706E023703}">
                      <ahyp:hlinkClr xmlns:ahyp="http://schemas.microsoft.com/office/drawing/2018/hyperlinkcolor" xmlns="" val="tx"/>
                    </a:ext>
                  </a:extLst>
                </a:hlinkClick>
              </a:rPr>
              <a:t>[31]</a:t>
            </a:r>
            <a:endParaRPr lang="en-US" sz="600" dirty="0"/>
          </a:p>
        </p:txBody>
      </p:sp>
    </p:spTree>
    <p:extLst>
      <p:ext uri="{BB962C8B-B14F-4D97-AF65-F5344CB8AC3E}">
        <p14:creationId xmlns:p14="http://schemas.microsoft.com/office/powerpoint/2010/main" val="11693073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74320"/>
            <a:ext cx="8595360" cy="502920"/>
          </a:xfrm>
          <a:prstGeom prst="rect">
            <a:avLst/>
          </a:prstGeom>
          <a:noFill/>
          <a:ln/>
        </p:spPr>
        <p:txBody>
          <a:bodyPr wrap="square" rtlCol="0" anchor="ctr"/>
          <a:lstStyle/>
          <a:p>
            <a:r>
              <a:rPr lang="en-US" sz="2000" dirty="0"/>
              <a:t>“Crime-associated inequality in geographical access to education: Insights from Rio de Janeiro” (Knoblauch et al., 2025),</a:t>
            </a:r>
            <a:endParaRPr lang="en-US" sz="2000" dirty="0"/>
          </a:p>
        </p:txBody>
      </p:sp>
      <p:sp>
        <p:nvSpPr>
          <p:cNvPr id="4" name="Text 1"/>
          <p:cNvSpPr/>
          <p:nvPr/>
        </p:nvSpPr>
        <p:spPr>
          <a:xfrm>
            <a:off x="1097280" y="1097280"/>
            <a:ext cx="7772400" cy="3474720"/>
          </a:xfrm>
          <a:prstGeom prst="rect">
            <a:avLst/>
          </a:prstGeom>
          <a:noFill/>
          <a:ln/>
        </p:spPr>
        <p:txBody>
          <a:bodyPr wrap="square" rtlCol="0" anchor="ctr"/>
          <a:lstStyle/>
          <a:p>
            <a:pPr lvl="1"/>
            <a:r>
              <a:rPr lang="en-US" sz="1400" b="1" dirty="0" smtClean="0">
                <a:solidFill>
                  <a:srgbClr val="030A18"/>
                </a:solidFill>
              </a:rPr>
              <a:t>5. </a:t>
            </a:r>
            <a:r>
              <a:rPr lang="en-US" sz="1400" b="1" dirty="0" err="1" smtClean="0">
                <a:solidFill>
                  <a:srgbClr val="030A18"/>
                </a:solidFill>
              </a:rPr>
              <a:t>Contribuições</a:t>
            </a:r>
            <a:r>
              <a:rPr lang="en-US" sz="1400" b="1" dirty="0" smtClean="0">
                <a:solidFill>
                  <a:srgbClr val="030A18"/>
                </a:solidFill>
              </a:rPr>
              <a:t>, </a:t>
            </a:r>
            <a:r>
              <a:rPr lang="en-US" sz="1400" b="1" dirty="0" err="1" smtClean="0">
                <a:solidFill>
                  <a:srgbClr val="030A18"/>
                </a:solidFill>
              </a:rPr>
              <a:t>Limites</a:t>
            </a:r>
            <a:r>
              <a:rPr lang="en-US" sz="1400" b="1" dirty="0" smtClean="0">
                <a:solidFill>
                  <a:srgbClr val="030A18"/>
                </a:solidFill>
              </a:rPr>
              <a:t> e </a:t>
            </a:r>
            <a:r>
              <a:rPr lang="en-US" sz="1400" b="1" dirty="0" err="1" smtClean="0">
                <a:solidFill>
                  <a:srgbClr val="030A18"/>
                </a:solidFill>
              </a:rPr>
              <a:t>Sugestões</a:t>
            </a:r>
            <a:r>
              <a:rPr lang="en-US" sz="1400" b="1" dirty="0" smtClean="0">
                <a:solidFill>
                  <a:srgbClr val="030A18"/>
                </a:solidFill>
              </a:rPr>
              <a:t> de </a:t>
            </a:r>
            <a:r>
              <a:rPr lang="en-US" sz="1400" b="1" dirty="0" err="1" smtClean="0">
                <a:solidFill>
                  <a:srgbClr val="030A18"/>
                </a:solidFill>
              </a:rPr>
              <a:t>Aperfeçoamento</a:t>
            </a:r>
            <a:endParaRPr lang="en-US" sz="1400" b="1" dirty="0" smtClean="0">
              <a:solidFill>
                <a:srgbClr val="030A18"/>
              </a:solidFill>
            </a:endParaRPr>
          </a:p>
          <a:p>
            <a:pPr lvl="1"/>
            <a:endParaRPr lang="pt-BR" sz="1200" dirty="0"/>
          </a:p>
          <a:p>
            <a:pPr marL="742950" lvl="1" indent="-285750">
              <a:buFont typeface="+mj-lt"/>
              <a:buAutoNum type="arabicPeriod"/>
            </a:pPr>
            <a:r>
              <a:rPr lang="pt-BR" sz="1000" dirty="0"/>
              <a:t>Incorporar econometria espacial – Empregar modelos de </a:t>
            </a:r>
            <a:r>
              <a:rPr lang="pt-BR" sz="1000" dirty="0" err="1"/>
              <a:t>autocorrelação</a:t>
            </a:r>
            <a:r>
              <a:rPr lang="pt-BR" sz="1000" dirty="0"/>
              <a:t> (</a:t>
            </a:r>
            <a:r>
              <a:rPr lang="pt-BR" sz="1000" dirty="0" err="1"/>
              <a:t>Moran’s</a:t>
            </a:r>
            <a:r>
              <a:rPr lang="pt-BR" sz="1000" dirty="0"/>
              <a:t> I) e regressões espaciais para explicar variações no índice de crime e no tempo adicional pode identificar clusters e fatores socioeconômicos determinantes. Tais modelos poderiam ser estimados com dados censitários e reforçar o diagnóstico de desigualdade</a:t>
            </a:r>
            <a:r>
              <a:rPr lang="pt-BR" sz="1000" dirty="0" smtClean="0"/>
              <a:t>.</a:t>
            </a:r>
            <a:endParaRPr lang="pt-BR" sz="1000" dirty="0"/>
          </a:p>
          <a:p>
            <a:pPr marL="742950" lvl="1" indent="-285750">
              <a:buFont typeface="+mj-lt"/>
              <a:buAutoNum type="arabicPeriod"/>
            </a:pPr>
            <a:r>
              <a:rPr lang="pt-BR" sz="1000" dirty="0"/>
              <a:t>Estimar efeitos em resultados educacionais – Conectar os tempos de deslocamento simulados a dados de presença escolar ou notas (quando disponíveis) permitiria avaliar o impacto da violência sobre aprendizado e abandono, ajustando por variáveis de confusão</a:t>
            </a:r>
            <a:r>
              <a:rPr lang="pt-BR" sz="1000" dirty="0" smtClean="0"/>
              <a:t>.</a:t>
            </a:r>
            <a:endParaRPr lang="pt-BR" sz="1000" dirty="0"/>
          </a:p>
          <a:p>
            <a:pPr marL="742950" lvl="1" indent="-285750">
              <a:buFont typeface="+mj-lt"/>
              <a:buAutoNum type="arabicPeriod"/>
            </a:pPr>
            <a:r>
              <a:rPr lang="pt-BR" sz="1000" dirty="0"/>
              <a:t>Aprimorar dados de escolha escolar – Integrar bases do Censo Escolar ou registros municipais, mapeando quais escolas alunos realmente frequentam, pode refinar a suposição de “escola mais próxima” e melhorar a modelagem</a:t>
            </a:r>
            <a:r>
              <a:rPr lang="pt-BR" sz="1000" dirty="0" smtClean="0"/>
              <a:t>.</a:t>
            </a:r>
            <a:endParaRPr lang="pt-BR" sz="1000" dirty="0"/>
          </a:p>
          <a:p>
            <a:pPr marL="742950" lvl="1" indent="-285750">
              <a:buFont typeface="+mj-lt"/>
              <a:buAutoNum type="arabicPeriod"/>
            </a:pPr>
            <a:r>
              <a:rPr lang="pt-BR" sz="1000" dirty="0"/>
              <a:t>Considerar modos de transporte múltiplos – Estender o modelo para ônibus escolares, transporte público e transporte privado, calibrando custos de tempo e segurança para cada modo, aproximaria a simulação da realidade</a:t>
            </a:r>
            <a:r>
              <a:rPr lang="pt-BR" sz="1000" dirty="0" smtClean="0"/>
              <a:t>.</a:t>
            </a:r>
            <a:endParaRPr lang="pt-BR" sz="1000" dirty="0"/>
          </a:p>
          <a:p>
            <a:pPr marL="742950" lvl="1" indent="-285750">
              <a:buFont typeface="+mj-lt"/>
              <a:buAutoNum type="arabicPeriod"/>
            </a:pPr>
            <a:r>
              <a:rPr lang="pt-BR" sz="1000" dirty="0"/>
              <a:t>Participação comunitária e validação de campo – O artigo menciona a necessidade de validar trajetos com moradores; incorporar entrevistas ou oficinas participativas pode ajustar percepções de risco e revelar comportamentos de evasão de áreas perigosas</a:t>
            </a:r>
            <a:r>
              <a:rPr lang="pt-BR" sz="1000" dirty="0" smtClean="0"/>
              <a:t>.</a:t>
            </a:r>
            <a:endParaRPr lang="pt-BR" sz="1000" dirty="0"/>
          </a:p>
          <a:p>
            <a:pPr marL="742950" lvl="1" indent="-285750">
              <a:buFont typeface="+mj-lt"/>
              <a:buAutoNum type="arabicPeriod"/>
            </a:pPr>
            <a:r>
              <a:rPr lang="pt-BR" sz="1000" dirty="0"/>
              <a:t>Dinâmica temporal e simulação em tempo real – Integrar dados de plataformas como “Onde Tem Tiroteio” e variáveis climáticas diárias permitiria construir ferramentas de roteamento dinâmico para políticas de curto prazo, como suspensão de aulas em situações críticas.</a:t>
            </a:r>
          </a:p>
        </p:txBody>
      </p:sp>
      <p:sp>
        <p:nvSpPr>
          <p:cNvPr id="5"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3">
                  <a:extLst>
                    <a:ext uri="{A12FA001-AC4F-418D-AE19-62706E023703}">
                      <ahyp:hlinkClr xmlns:ahyp="http://schemas.microsoft.com/office/drawing/2018/hyperlinkcolor" xmlns="" val="tx"/>
                    </a:ext>
                  </a:extLst>
                </a:hlinkClick>
              </a:rPr>
              <a:t>[31]</a:t>
            </a:r>
            <a:endParaRPr lang="en-US" sz="600" dirty="0"/>
          </a:p>
        </p:txBody>
      </p:sp>
    </p:spTree>
    <p:extLst>
      <p:ext uri="{BB962C8B-B14F-4D97-AF65-F5344CB8AC3E}">
        <p14:creationId xmlns:p14="http://schemas.microsoft.com/office/powerpoint/2010/main" val="19366922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467208"/>
            <a:ext cx="8595360" cy="502920"/>
          </a:xfrm>
          <a:prstGeom prst="rect">
            <a:avLst/>
          </a:prstGeom>
          <a:noFill/>
          <a:ln/>
        </p:spPr>
        <p:txBody>
          <a:bodyPr wrap="square" rtlCol="0" anchor="ctr"/>
          <a:lstStyle/>
          <a:p>
            <a:r>
              <a:rPr lang="en-US" sz="2000" dirty="0"/>
              <a:t>“Crime-associated inequality in geographical access to education: Insights from Rio de Janeiro” (Knoblauch et al., 2025),</a:t>
            </a:r>
            <a:endParaRPr lang="en-US" sz="2000" dirty="0"/>
          </a:p>
        </p:txBody>
      </p:sp>
      <p:sp>
        <p:nvSpPr>
          <p:cNvPr id="4" name="Text 1"/>
          <p:cNvSpPr/>
          <p:nvPr/>
        </p:nvSpPr>
        <p:spPr>
          <a:xfrm>
            <a:off x="1097280" y="1097280"/>
            <a:ext cx="7772400" cy="3474720"/>
          </a:xfrm>
          <a:prstGeom prst="rect">
            <a:avLst/>
          </a:prstGeom>
          <a:noFill/>
          <a:ln/>
        </p:spPr>
        <p:txBody>
          <a:bodyPr wrap="square" rtlCol="0" anchor="ctr"/>
          <a:lstStyle/>
          <a:p>
            <a:pPr lvl="2"/>
            <a:r>
              <a:rPr lang="pt-BR" sz="1400" b="1" dirty="0" smtClean="0">
                <a:solidFill>
                  <a:srgbClr val="030A18"/>
                </a:solidFill>
              </a:rPr>
              <a:t>6. Conclusões</a:t>
            </a:r>
            <a:endParaRPr lang="en-US" sz="1400" b="1" dirty="0" smtClean="0">
              <a:solidFill>
                <a:srgbClr val="030A18"/>
              </a:solidFill>
            </a:endParaRPr>
          </a:p>
          <a:p>
            <a:pPr lvl="1"/>
            <a:endParaRPr lang="pt-BR" sz="1200" dirty="0" smtClean="0"/>
          </a:p>
          <a:p>
            <a:pPr marL="742950" lvl="1" indent="-285750">
              <a:buFont typeface="+mj-lt"/>
              <a:buAutoNum type="arabicPeriod"/>
            </a:pPr>
            <a:r>
              <a:rPr lang="pt-BR" sz="1400" dirty="0" smtClean="0"/>
              <a:t>O </a:t>
            </a:r>
            <a:r>
              <a:rPr lang="pt-BR" sz="1400" dirty="0"/>
              <a:t>artigo de </a:t>
            </a:r>
            <a:r>
              <a:rPr lang="pt-BR" sz="1400" dirty="0" err="1"/>
              <a:t>Knoblauch</a:t>
            </a:r>
            <a:r>
              <a:rPr lang="pt-BR" sz="1400" dirty="0"/>
              <a:t> et al. (2025) é pioneiro ao aplicar técnicas de </a:t>
            </a:r>
            <a:r>
              <a:rPr lang="pt-BR" sz="1400" dirty="0" err="1"/>
              <a:t>geoinformação</a:t>
            </a:r>
            <a:r>
              <a:rPr lang="pt-BR" sz="1400" dirty="0"/>
              <a:t> e roteamento consciente de crimes para medir desigualdades no acesso à educação. </a:t>
            </a:r>
            <a:endParaRPr lang="pt-BR" sz="1400" dirty="0" smtClean="0"/>
          </a:p>
          <a:p>
            <a:pPr marL="742950" lvl="1" indent="-285750">
              <a:buFont typeface="+mj-lt"/>
              <a:buAutoNum type="arabicPeriod"/>
            </a:pPr>
            <a:endParaRPr lang="pt-BR" sz="1400" dirty="0" smtClean="0"/>
          </a:p>
          <a:p>
            <a:pPr marL="742950" lvl="1" indent="-285750">
              <a:buFont typeface="+mj-lt"/>
              <a:buAutoNum type="arabicPeriod"/>
            </a:pPr>
            <a:r>
              <a:rPr lang="pt-BR" sz="1400" dirty="0" smtClean="0"/>
              <a:t>Embora </a:t>
            </a:r>
            <a:r>
              <a:rPr lang="pt-BR" sz="1400" dirty="0"/>
              <a:t>com limitações, oferece insights valiosos e abre caminho para pesquisas que combinem GIS, estatística espacial e políticas públicas. Incorporar abordagens econométricas, dados comportamentais e métodos de participação social ampliará a relevância e o impacto de investigações futuras sobre acesso a serviços em contextos urbanos violentos.</a:t>
            </a:r>
            <a:endParaRPr lang="pt-BR" sz="1400" dirty="0" smtClean="0"/>
          </a:p>
        </p:txBody>
      </p:sp>
      <p:sp>
        <p:nvSpPr>
          <p:cNvPr id="5" name="Text 2"/>
          <p:cNvSpPr/>
          <p:nvPr/>
        </p:nvSpPr>
        <p:spPr>
          <a:xfrm>
            <a:off x="457200" y="4777740"/>
            <a:ext cx="8229600" cy="228600"/>
          </a:xfrm>
          <a:prstGeom prst="rect">
            <a:avLst/>
          </a:prstGeom>
          <a:noFill/>
          <a:ln/>
        </p:spPr>
        <p:txBody>
          <a:bodyPr wrap="square" lIns="0" tIns="0" rIns="0" bIns="0" rtlCol="0" anchor="ctr"/>
          <a:lstStyle/>
          <a:p>
            <a:pPr marL="0" indent="0">
              <a:buNone/>
            </a:pPr>
            <a:r>
              <a:rPr lang="en-US" sz="600" u="sng" dirty="0">
                <a:solidFill>
                  <a:srgbClr val="0070C0"/>
                </a:solidFill>
                <a:hlinkClick r:id="rId3">
                  <a:extLst>
                    <a:ext uri="{A12FA001-AC4F-418D-AE19-62706E023703}">
                      <ahyp:hlinkClr xmlns:ahyp="http://schemas.microsoft.com/office/drawing/2018/hyperlinkcolor" xmlns="" val="tx"/>
                    </a:ext>
                  </a:extLst>
                </a:hlinkClick>
              </a:rPr>
              <a:t>[31]</a:t>
            </a:r>
            <a:endParaRPr lang="en-US" sz="600" dirty="0"/>
          </a:p>
        </p:txBody>
      </p:sp>
    </p:spTree>
    <p:extLst>
      <p:ext uri="{BB962C8B-B14F-4D97-AF65-F5344CB8AC3E}">
        <p14:creationId xmlns:p14="http://schemas.microsoft.com/office/powerpoint/2010/main" val="10345818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TotalTime>
  <Words>2504</Words>
  <Application>Microsoft Office PowerPoint</Application>
  <PresentationFormat>Apresentação na tela (16:9)</PresentationFormat>
  <Paragraphs>268</Paragraphs>
  <Slides>35</Slides>
  <Notes>35</Notes>
  <HiddenSlides>0</HiddenSlides>
  <MMClips>0</MMClips>
  <ScaleCrop>false</ScaleCrop>
  <HeadingPairs>
    <vt:vector size="4" baseType="variant">
      <vt:variant>
        <vt:lpstr>Tema</vt:lpstr>
      </vt:variant>
      <vt:variant>
        <vt:i4>1</vt:i4>
      </vt:variant>
      <vt:variant>
        <vt:lpstr>Títulos de slides</vt:lpstr>
      </vt:variant>
      <vt:variant>
        <vt:i4>35</vt:i4>
      </vt:variant>
    </vt:vector>
  </HeadingPairs>
  <TitlesOfParts>
    <vt:vector size="36" baseType="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Ricardo Ceneviva</cp:lastModifiedBy>
  <cp:revision>9</cp:revision>
  <dcterms:created xsi:type="dcterms:W3CDTF">2025-08-05T15:24:49Z</dcterms:created>
  <dcterms:modified xsi:type="dcterms:W3CDTF">2025-08-05T16:59:25Z</dcterms:modified>
</cp:coreProperties>
</file>